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  <Override PartName="/ppt/slides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5" Type="http://schemas.openxmlformats.org/officeDocument/2006/relationships/tableStyles" Target="tableStyles.xml" /><Relationship Id="rId7" Type="http://schemas.openxmlformats.org/officeDocument/2006/relationships/slide" Target="slides/slide7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3" Type="http://schemas.openxmlformats.org/officeDocument/2006/relationships/notesMaster" Target="notesMasters/notesMaster1.xml" /><Relationship Id="rId8" Type="http://schemas.openxmlformats.org/officeDocument/2006/relationships/slide" Target="slides/slide8.xml" /><Relationship Id="rId12" Type="http://schemas.openxmlformats.org/officeDocument/2006/relationships/slide" Target="slides/slide12.xml" /><Relationship Id="rId14" Type="http://schemas.openxmlformats.org/officeDocument/2006/relationships/presProps" Target="presProps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Relationship Id="rId3" Type="http://schemas.openxmlformats.org/officeDocument/2006/relationships/image" Target="media/image8.svg" /><Relationship Id="rId2" Type="http://schemas.openxmlformats.org/officeDocument/2006/relationships/image" Target="media/image4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plotArea>
      <c:doughnutChart>
        <c:varyColors val="1"/>
        <c:ser>
          <c:idx val="0"/>
          <c:order val="0"/>
          <c:tx>
            <c:strRef>
              <c:f>sheet</c:f>
              <c:strCache>
                <c:ptCount val="1"/>
                <c:pt idx="0">
                  <c:v>数量</c:v>
                </c:pt>
              </c:strCache>
            </c:strRef>
          </c:tx>
          <c:spPr/>
          <c:cat>
            <c:strRef>
              <c:strCache>
                <c:ptCount val="6"/>
                <c:pt idx="0">
                  <c:v>流行 pop</c:v>
                </c:pt>
                <c:pt idx="1">
                  <c:v>乡村 country</c:v>
                </c:pt>
                <c:pt idx="2">
                  <c:v>说唱 hip-hop</c:v>
                </c:pt>
                <c:pt idx="3">
                  <c:v>摇滚 rock</c:v>
                </c:pt>
                <c:pt idx="4">
                  <c:v>民谣 folk</c:v>
                </c:pt>
                <c:pt idx="5">
                  <c:v>其他 37 类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47</c:v>
                </c:pt>
                <c:pt idx="1">
                  <c:v>45</c:v>
                </c:pt>
                <c:pt idx="2">
                  <c:v>44</c:v>
                </c:pt>
                <c:pt idx="3">
                  <c:v>35</c:v>
                </c:pt>
                <c:pt idx="4">
                  <c:v>24</c:v>
                </c:pt>
                <c:pt idx="5">
                  <c:v>582</c:v>
                </c:pt>
              </c:numCache>
            </c:numRef>
          </c:val>
        </c:ser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/>
          </a:pPr>
        </a:p>
      </c:txPr>
    </c:legend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position: 'relative', background: 'linear-gradient(135deg, #0071E3 0%, #7C3AED 100%)', padding: 0 }}&gt;&#10;  {/* 装饰音符 */}&#10;  &lt;Box style={{ position: 'absolute', top: 80, right: 120, opacity: 0.15 }}&gt;&#10;    &lt;Text style={{ fontSize: 300, color: '#ffffff' }}&gt;♪&lt;/Text&gt;&#10;  &lt;/Box&gt;&#10;  &lt;Box style={{ position: 'absolute', bottom: 60, left: 90, opacity: 0.12 }}&gt;&#10;    &lt;Text style={{ fontSize: 200, color: '#ffffff' }}&gt;♫&lt;/Text&gt;&#10;  &lt;/Box&gt;&#10;  {/* 中心内容 */}&#10;  &lt;Box style={{ flex: 1, alignItems: 'center', justifyContent: 'center', gap: 8 }}&gt;&#10;    &lt;Box style={{ flexDirection: 'row', alignItems: 'center', gap: 24 }}&gt;&#10;      &lt;Text style={{ fontSize: 120, fontWeight: 'bold', color: '#ffffff', textShadow: '0 4px 24px rgba(0,0,0,0.25)' }}&gt;♪&lt;/Text&gt;&#10;      &lt;Text style={{ fontSize: 88, fontWeight: 'bold', color: '#ffffff', letterSpacing: 2, textShadow: '0 4px 24px rgba(0,0,0,0.25)' }}&gt;TuneMatch&lt;/Text&gt;&#10;    &lt;/Box&gt;&#10;    &lt;Text style={{ fontSize: 28, color: 'rgba(255,255,255,0.92)', marginTop: 16, letterSpacing: 1 }}&gt;AI 智能音乐推荐平台 · 课程项目答辩&lt;/Text&gt;&#10;    &lt;Box style={{ marginTop: 40, flexDirection: 'row', gap: 12 }}&gt;&#10;      &lt;Box style={{ background: 'rgba(255,255,255,0.18)', border: '1px solid rgba(255,255,255,0.35)', borderRadius: 40, padding: '10px 28px' }}&gt;&#10;        &lt;Text style={{ fontSize: 18, color: '#ffffff' }}&gt;多模态 AI 推荐&lt;/Text&gt;&#10;      &lt;/Box&gt;&#10;      &lt;Box style={{ background: 'rgba(255,255,255,0.18)', border: '1px solid rgba(255,255,255,0.35)', borderRadius: 40, padding: '10px 28px' }}&gt;&#10;        &lt;Text style={{ fontSize: 18, color: '#ffffff' }}&gt;777 首真实曲库&lt;/Text&gt;&#10;      &lt;/Box&gt;&#10;      &lt;Box style={{ background: 'rgba(255,255,255,0.18)', border: '1px solid rgba(255,255,255,0.35)', borderRadius: 40, padding: '10px 28px' }}&gt;&#10;        &lt;Text style={{ fontSize: 18, color: '#ffffff' }}&gt;可解释匹配度&lt;/Text&gt;&#10;      &lt;/Box&gt;&#10;    &lt;/Box&gt;&#10;    &lt;Text style={{ fontSize: 16, color: 'rgba(255,255,255,0.7)', marginTop: 60 }}&gt;2026 年 8 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71E3"/>
              </a:gs>
              <a:gs pos="100000">
                <a:srgbClr val="7C3AED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3114675" y="1619250"/>
            <a:ext cx="79057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25000"/>
                    </a:srgbClr>
                  </a:outerShdw>
                </a:effectLst>
                <a:latin typeface="Microsoft YaHei"/>
                <a:ea typeface="Microsoft YaHei"/>
              </a:rPr>
              <a:t>♪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4133850" y="1800225"/>
            <a:ext cx="494347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 spc="150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25000"/>
                    </a:srgbClr>
                  </a:outerShdw>
                </a:effectLst>
                <a:latin typeface="Microsoft YaHei"/>
                <a:ea typeface="Microsoft YaHei"/>
              </a:rPr>
              <a:t>TuneMatch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3848100" y="3219450"/>
            <a:ext cx="4495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AI </a:t>
            </a:r>
            <a:r>
              <a:rPr lang="zh-CN" sz="210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智能音乐推荐平台</a:t>
            </a:r>
            <a:r>
              <a:rPr lang="en-US" sz="210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210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课程项目答辩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3495675" y="4000500"/>
            <a:ext cx="1666875" cy="400050"/>
          </a:xfrm>
          <a:prstGeom prst="roundRect">
            <a:avLst>
              <a:gd name="adj" fmla="val 9523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3762375" y="4095750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多模态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推荐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276850" y="4000500"/>
            <a:ext cx="1743075" cy="400050"/>
          </a:xfrm>
          <a:prstGeom prst="roundRect">
            <a:avLst>
              <a:gd name="adj" fmla="val 9523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5543550" y="4095750"/>
            <a:ext cx="1209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777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首真实曲库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7134225" y="4000500"/>
            <a:ext cx="1562100" cy="400050"/>
          </a:xfrm>
          <a:prstGeom prst="roundRect">
            <a:avLst>
              <a:gd name="adj" fmla="val 9523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400925" y="40957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可解释匹配度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648325" y="5048250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2026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 8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9077325" y="762000"/>
            <a:ext cx="19716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0">
                <a:solidFill>
                  <a:srgbClr val="FFFFFF">
                    <a:alpha val="15000"/>
                  </a:srgbClr>
                </a:solidFill>
                <a:latin typeface="Microsoft YaHei"/>
                <a:ea typeface="Microsoft YaHei"/>
              </a:rPr>
              <a:t>♪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57250" y="4000500"/>
            <a:ext cx="19050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0">
                <a:solidFill>
                  <a:srgbClr val="FFFFFF">
                    <a:alpha val="12000"/>
                  </a:srgbClr>
                </a:solidFill>
                <a:latin typeface="Microsoft YaHei"/>
                <a:ea typeface="Microsoft YaHei"/>
              </a:rPr>
              <a:t>♫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5" name="" descr="&lt;Slide style={{ width: 1280, height: 720, background: '#ffffff', padding: '20px 64px' }}&gt;&#10;  {/* A 标题块 */}&#10;  &lt;Box style={{ height: 100, justifyContent: 'center' }}&gt;&#10;    &lt;Text style={{ fontSize: 36, fontWeight: 'bold', color: '#1D1D1F' }}&gt;目录 · CONTENTS&lt;/Text&gt;&#10;  &lt;/Box&gt;&#10;  {/* B 内容区：4 章列表 */}&#10;  &lt;Box style={{ flex: 1, flexDirection: 'row', gap: 32, alignItems: 'center', justifyContent: 'center' }}&gt;&#10;    &lt;Box style={{ flex: 1, gap: 22 }}&gt;&#10;      {[&#10;        { n: '01', t: '项目背景', d: '传统推荐冷启动 · 透明可解释', c: '#0071E3' },&#10;        { n: '02', t: '功能设计', d: '12 个功能模块 · 多模态输入', c: '#7C3AED' },&#10;        { n: '03', t: '技术架构', d: 'Vue3 + FastAPI + 多源数据', c: '#FF6B9D' },&#10;        { n: '04', t: '数据与成果', d: '777 首曲库 · 49 项测试全通过', c: '#10B981' },&#10;      ].map((s) =&gt; (&#10;        &lt;Box key={s.n} style={{ flexDirection: 'row', alignItems: 'center', gap: 24, background: '#F5F5F7', borderRadius: 16, padding: '22px 28px' }}&gt;&#10;          &lt;Text style={{ fontSize: 40, fontWeight: 'bold', color: s.c, width: 90 }}&gt;{s.n}&lt;/Text&gt;&#10;          &lt;Box style={{ gap: 2 }}&gt;&#10;            &lt;Text style={{ fontSize: 26, fontWeight: 'bold', color: '#1D1D1F' }}&gt;{s.t}&lt;/Text&gt;&#10;            &lt;Text style={{ fontSize: 17, color: '#6E6E73' }}&gt;{s.d}&lt;/Text&gt;&#10;          &lt;/Box&gt;&#10;        &lt;/Box&gt;&#10;      ))}&#10;    &lt;/Box&gt;&#10;    &lt;Box style={{ width: 340, alignItems: 'center', gap: 12 }}&gt;&#10;      &lt;Box style={{ width: 260, height: 260, borderRadius: 24, background: 'linear-gradient(135deg, #0071E3, #7C3AED)', alignItems: 'center', justifyContent: 'center' }}&gt;&#10;        &lt;Text style={{ fontSize: 110, color: '#ffffff' }}&gt;♪&lt;/Text&gt;&#10;      &lt;/Box&gt;&#10;      &lt;Text style={{ fontSize: 18, color: '#6E6E73', textAlign: 'center', lineHeight: 1.6 }}&gt;AI 智能音乐推荐平台\n让每一次听歌都被理解&lt;/Text&gt;&#10;    &lt;/Box&gt;&#10;  &lt;/Box&gt;&#10;  {/* C 页脚 */}&#10;  &lt;Box style={{ height: 50, flexDirection: 'row', alignItems: 'center', justifyContent: 'flex-end' }}&gt;&#10;    &lt;Text style={{ fontSize: 14, color: '#86868B' }}&gt;02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D1D1F"/>
                </a:solidFill>
                <a:latin typeface="Microsoft YaHei"/>
                <a:ea typeface="Microsoft YaHei"/>
              </a:rPr>
              <a:t>目录</a:t>
            </a:r>
            <a:r>
              <a:rPr lang="en-US" sz="2700" b="1">
                <a:solidFill>
                  <a:srgbClr val="1D1D1F"/>
                </a:solidFill>
                <a:latin typeface="Microsoft YaHei"/>
                <a:ea typeface="Microsoft YaHei"/>
              </a:rPr>
              <a:t> · CONTENTS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09600" y="1466850"/>
            <a:ext cx="7429500" cy="942975"/>
          </a:xfrm>
          <a:prstGeom prst="roundRect">
            <a:avLst>
              <a:gd name="adj" fmla="val 16162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76300" y="1714500"/>
            <a:ext cx="857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071E3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962150" y="1676400"/>
            <a:ext cx="20859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D1D1F"/>
                </a:solidFill>
                <a:latin typeface="Microsoft YaHei"/>
                <a:ea typeface="Microsoft YaHei"/>
              </a:rPr>
              <a:t>项目背景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962150" y="2000250"/>
            <a:ext cx="2085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6E73"/>
                </a:solidFill>
                <a:latin typeface="Microsoft YaHei"/>
                <a:ea typeface="Microsoft YaHei"/>
              </a:rPr>
              <a:t>传统推荐冷启动</a:t>
            </a:r>
            <a:r>
              <a:rPr lang="en-US" sz="1275">
                <a:solidFill>
                  <a:srgbClr val="6E6E73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6E6E73"/>
                </a:solidFill>
                <a:latin typeface="Microsoft YaHei"/>
                <a:ea typeface="Microsoft YaHei"/>
              </a:rPr>
              <a:t>透明可解释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2619375"/>
            <a:ext cx="7429500" cy="942975"/>
          </a:xfrm>
          <a:prstGeom prst="roundRect">
            <a:avLst>
              <a:gd name="adj" fmla="val 16162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76300" y="2867025"/>
            <a:ext cx="857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7C3AED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962150" y="2828925"/>
            <a:ext cx="2000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D1D1F"/>
                </a:solidFill>
                <a:latin typeface="Microsoft YaHei"/>
                <a:ea typeface="Microsoft YaHei"/>
              </a:rPr>
              <a:t>功能设计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962150" y="3152775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E6E73"/>
                </a:solidFill>
                <a:latin typeface="Microsoft YaHei"/>
                <a:ea typeface="Microsoft YaHei"/>
              </a:rPr>
              <a:t>12 </a:t>
            </a:r>
            <a:r>
              <a:rPr lang="zh-CN" sz="1275">
                <a:solidFill>
                  <a:srgbClr val="6E6E73"/>
                </a:solidFill>
                <a:latin typeface="Microsoft YaHei"/>
                <a:ea typeface="Microsoft YaHei"/>
              </a:rPr>
              <a:t>个功能模块</a:t>
            </a:r>
            <a:r>
              <a:rPr lang="en-US" sz="1275">
                <a:solidFill>
                  <a:srgbClr val="6E6E73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6E6E73"/>
                </a:solidFill>
                <a:latin typeface="Microsoft YaHei"/>
                <a:ea typeface="Microsoft YaHei"/>
              </a:rPr>
              <a:t>多模态输入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09600" y="3771900"/>
            <a:ext cx="7429500" cy="942975"/>
          </a:xfrm>
          <a:prstGeom prst="roundRect">
            <a:avLst>
              <a:gd name="adj" fmla="val 16162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76300" y="4019550"/>
            <a:ext cx="857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6B9D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962150" y="3981450"/>
            <a:ext cx="2038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D1D1F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962150" y="4305300"/>
            <a:ext cx="2038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E6E73"/>
                </a:solidFill>
                <a:latin typeface="Microsoft YaHei"/>
                <a:ea typeface="Microsoft YaHei"/>
              </a:rPr>
              <a:t>Vue3 + FastAPI + </a:t>
            </a:r>
            <a:r>
              <a:rPr lang="zh-CN" sz="1275">
                <a:solidFill>
                  <a:srgbClr val="6E6E73"/>
                </a:solidFill>
                <a:latin typeface="Microsoft YaHei"/>
                <a:ea typeface="Microsoft YaHei"/>
              </a:rPr>
              <a:t>多源数据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09600" y="4924425"/>
            <a:ext cx="7429500" cy="942975"/>
          </a:xfrm>
          <a:prstGeom prst="roundRect">
            <a:avLst>
              <a:gd name="adj" fmla="val 16162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76300" y="5172075"/>
            <a:ext cx="857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0B981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962150" y="5133975"/>
            <a:ext cx="2171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D1D1F"/>
                </a:solidFill>
                <a:latin typeface="Microsoft YaHei"/>
                <a:ea typeface="Microsoft YaHei"/>
              </a:rPr>
              <a:t>数据与成果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962150" y="5457825"/>
            <a:ext cx="2171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E6E73"/>
                </a:solidFill>
                <a:latin typeface="Microsoft YaHei"/>
                <a:ea typeface="Microsoft YaHei"/>
              </a:rPr>
              <a:t>777 </a:t>
            </a:r>
            <a:r>
              <a:rPr lang="zh-CN" sz="1275">
                <a:solidFill>
                  <a:srgbClr val="6E6E73"/>
                </a:solidFill>
                <a:latin typeface="Microsoft YaHei"/>
                <a:ea typeface="Microsoft YaHei"/>
              </a:rPr>
              <a:t>首曲库</a:t>
            </a:r>
            <a:r>
              <a:rPr lang="en-US" sz="1275">
                <a:solidFill>
                  <a:srgbClr val="6E6E73"/>
                </a:solidFill>
                <a:latin typeface="Microsoft YaHei"/>
                <a:ea typeface="Microsoft YaHei"/>
              </a:rPr>
              <a:t> · 49 </a:t>
            </a:r>
            <a:r>
              <a:rPr lang="zh-CN" sz="1275">
                <a:solidFill>
                  <a:srgbClr val="6E6E73"/>
                </a:solidFill>
                <a:latin typeface="Microsoft YaHei"/>
                <a:ea typeface="Microsoft YaHei"/>
              </a:rPr>
              <a:t>项测试全通过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8724900" y="2038350"/>
            <a:ext cx="2476500" cy="2476500"/>
          </a:xfrm>
          <a:prstGeom prst="roundRect">
            <a:avLst>
              <a:gd name="adj" fmla="val 9231"/>
            </a:avLst>
          </a:prstGeom>
          <a:gradFill>
            <a:gsLst>
              <a:gs pos="0">
                <a:srgbClr val="0071E3"/>
              </a:gs>
              <a:gs pos="100000">
                <a:srgbClr val="7C3AED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601200" y="2647950"/>
            <a:ext cx="72390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0">
                <a:solidFill>
                  <a:srgbClr val="FFFFFF"/>
                </a:solidFill>
                <a:latin typeface="Microsoft YaHei"/>
                <a:ea typeface="Microsoft YaHei"/>
              </a:rPr>
              <a:t>♪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105900" y="4629150"/>
            <a:ext cx="1714500" cy="6667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1350">
                <a:solidFill>
                  <a:srgbClr val="6E6E73"/>
                </a:solidFill>
                <a:latin typeface="Microsoft YaHei"/>
                <a:ea typeface="Microsoft YaHei"/>
              </a:rPr>
              <a:t>AI </a:t>
            </a:r>
            <a:r>
              <a:rPr lang="zh-CN" sz="1350">
                <a:solidFill>
                  <a:srgbClr val="6E6E73"/>
                </a:solidFill>
                <a:latin typeface="Microsoft YaHei"/>
                <a:ea typeface="Microsoft YaHei"/>
              </a:rPr>
              <a:t>智能音乐推荐平台
让每一次听歌都被理解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88" name="" descr="&lt;Slide style={{ width: 1280, height: 720, background: '#F5F5F7', padding: '20px 64px' }}&gt;&#10;  {/* A 标题块 */}&#10;  &lt;Box style={{ height: 100, flexDirection: 'row', alignItems: 'center', gap: 16 }}&gt;&#10;    &lt;Box style={{ width: 10, height: 44, background: '#0071E3', borderRadius: 6 }} /&gt;&#10;    &lt;Text style={{ fontSize: 36, fontWeight: 'bold', color: '#1D1D1F' }}&gt;01 · 项目背景与问题&lt;/Text&gt;&#10;  &lt;/Box&gt;&#10;  {/* B 内容区 */}&#10;  &lt;Box style={{ flex: 1, flexDirection: 'row', gap: 28, alignItems: 'stretch' }}&gt;&#10;    {/* 左：问题卡 */}&#10;    &lt;Box style={{ flex: 1, background: '#ffffff', borderRadius: 20, padding: 30, gap: 16, boxShadow: '0 4px 20px rgba(0,0,0,0.06)' }}&gt;&#10;      &lt;Text style={{ fontSize: 24, fontWeight: 'bold', color: '#0071E3' }}&gt;🚫 传统推荐的两大痛点&lt;/Text&gt;&#10;      &lt;Text style={{ fontSize: 18, color: '#1D1D1F', lineHeight: 1.8 }}&gt;1. &lt;span style={{ fontWeight: 'bold' }}&gt;冷启动困难&lt;/span&gt;：新用户无行为数据，推荐靠猜&lt;/Text&gt;&#10;      &lt;Text style={{ fontSize: 18, color: '#1D1D1F', lineHeight: 1.8 }}&gt;2. &lt;span style={{ fontWeight: 'bold' }}&gt;黑盒不透明&lt;/span&gt;：系统推荐&quot;为什么&quot;，用户看不懂&lt;/Text&gt;&#10;      &lt;Box style={{ marginTop: 8, background: '#FFF3F5', borderRadius: 14, padding: 18 }}&gt;&#10;        &lt;Text style={{ fontSize: 17, color: '#D9306C', lineHeight: 1.7 }}&gt;结论：推荐过程需要「输入-理解-匹配-解释」的透明范式&lt;/Text&gt;&#10;      &lt;/Box&gt;&#10;    &lt;/Box&gt;&#10;    {/* 右：方案卡 */}&#10;    &lt;Box style={{ flex: 1.15, background: 'linear-gradient(150deg, #0071E3, #7C3AED)', borderRadius: 20, padding: 30, gap: 14 }}&gt;&#10;      &lt;Text style={{ fontSize: 24, fontWeight: 'bold', color: '#ffffff' }}&gt;✓ TuneMatch 的解法&lt;/Text&gt;&#10;      &lt;Box style={{ background: 'rgba(255,255,255,0.16)', borderRadius: 14, padding: 18, gap: 8 }}&gt;&#10;        &lt;Text style={{ fontSize: 19, color: '#ffffff', fontWeight: 'bold' }}&gt;多模态输入&lt;/Text&gt;&#10;        &lt;Text style={{ fontSize: 16, color: 'rgba(255,255,255,0.9)' }}&gt;一句话 / 一个场景 / 一组标签 / 一个种子歌曲 / 一份外部歌单&lt;/Text&gt;&#10;      &lt;/Box&gt;&#10;      &lt;Box style={{ background: 'rgba(255,255,255,0.16)', borderRadius: 14, padding: 18, gap: 8 }}&gt;&#10;        &lt;Text style={{ fontSize: 19, color: '#ffffff', fontWeight: 'bold' }}&gt;可解释匹配度&lt;/Text&gt;&#10;        &lt;Text style={{ fontSize: 16, color: 'rgba(255,255,255,0.9)' }}&gt;每条推荐附带 70-98% 匹配度 + 11 维特征雷达解释&lt;/Text&gt;&#10;      &lt;/Box&gt;&#10;      &lt;Box style={{ background: 'rgba(255,255,255,0.16)', borderRadius: 14, padding: 18, gap: 8 }}&gt;&#10;        &lt;Text style={{ fontSize: 19, color: '#ffffff', fontWeight: 'bold' }}&gt;画像驱动社交预演&lt;/Text&gt;&#10;        &lt;Text style={{ fontSize: 16, color: 'rgba(255,255,255,0.9)' }}&gt;每首歌/歌单生成音乐属性画像 → 未来「灵魂匹配」社交&lt;/Text&gt;&#10;      &lt;/Box&gt;&#10;    &lt;/Box&gt;&#10;  &lt;/Box&gt;&#10;  {/* C 页脚 */}&#10;  &lt;Box style={{ height: 50, flexDirection: 'row', alignItems: 'center', justifyContent: 'flex-end' }}&gt;&#10;    &lt;Text style={{ fontSize: 14, color: '#86868B' }}&gt;03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609600" y="457200"/>
            <a:ext cx="95250" cy="419100"/>
          </a:xfrm>
          <a:prstGeom prst="roundRect">
            <a:avLst>
              <a:gd name="adj" fmla="val 60000"/>
            </a:avLst>
          </a:prstGeom>
          <a:solidFill>
            <a:srgbClr val="0071E3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57250" y="457200"/>
            <a:ext cx="31813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D1D1F"/>
                </a:solidFill>
                <a:latin typeface="Microsoft YaHei"/>
                <a:ea typeface="Microsoft YaHei"/>
              </a:rPr>
              <a:t>01 · </a:t>
            </a:r>
            <a:r>
              <a:rPr lang="zh-CN" sz="2700" b="1">
                <a:solidFill>
                  <a:srgbClr val="1D1D1F"/>
                </a:solidFill>
                <a:latin typeface="Microsoft YaHei"/>
                <a:ea typeface="Microsoft YaHei"/>
              </a:rPr>
              <a:t>项目背景与问题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9600" y="1143000"/>
            <a:ext cx="4981575" cy="5048250"/>
          </a:xfrm>
          <a:prstGeom prst="roundRect">
            <a:avLst>
              <a:gd name="adj" fmla="val 382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95350" y="1428750"/>
            <a:ext cx="44100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071E3"/>
                </a:solidFill>
                <a:latin typeface="Microsoft YaHei"/>
                <a:ea typeface="Microsoft YaHei"/>
              </a:rPr>
              <a:t>🚫 </a:t>
            </a:r>
            <a:r>
              <a:rPr lang="zh-CN" sz="1800" b="1">
                <a:solidFill>
                  <a:srgbClr val="0071E3"/>
                </a:solidFill>
                <a:latin typeface="Microsoft YaHei"/>
                <a:ea typeface="Microsoft YaHei"/>
              </a:rPr>
              <a:t>传统推荐的两大痛点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95350" y="1857375"/>
            <a:ext cx="4410075" cy="3714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1. </a:t>
            </a:r>
            <a:r>
              <a:rPr lang="zh-CN" sz="1350" b="1">
                <a:solidFill>
                  <a:srgbClr val="1D1D1F"/>
                </a:solidFill>
                <a:latin typeface="Microsoft YaHei"/>
                <a:ea typeface="Microsoft YaHei"/>
              </a:rPr>
              <a:t>冷启动困难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：新用户无行为数据，推荐靠猜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95350" y="2381250"/>
            <a:ext cx="4410075" cy="3714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2. </a:t>
            </a:r>
            <a:r>
              <a:rPr lang="zh-CN" sz="1350" b="1">
                <a:solidFill>
                  <a:srgbClr val="1D1D1F"/>
                </a:solidFill>
                <a:latin typeface="Microsoft YaHei"/>
                <a:ea typeface="Microsoft YaHei"/>
              </a:rPr>
              <a:t>黑盒不透明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：系统推荐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为什么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，用户看不懂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95350" y="2981325"/>
            <a:ext cx="4410075" cy="1009650"/>
          </a:xfrm>
          <a:prstGeom prst="roundRect">
            <a:avLst>
              <a:gd name="adj" fmla="val 13208"/>
            </a:avLst>
          </a:prstGeom>
          <a:solidFill>
            <a:srgbClr val="FFF3F5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066800" y="3152775"/>
            <a:ext cx="40671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D9306C"/>
                </a:solidFill>
                <a:latin typeface="Microsoft YaHei"/>
                <a:ea typeface="Microsoft YaHei"/>
              </a:rPr>
              <a:t>结论：推荐过程需要「输入</a:t>
            </a:r>
            <a:r>
              <a:rPr lang="en-US" sz="1275">
                <a:solidFill>
                  <a:srgbClr val="D9306C"/>
                </a:solidFill>
                <a:latin typeface="Microsoft YaHei"/>
                <a:ea typeface="Microsoft YaHei"/>
              </a:rPr>
              <a:t>-</a:t>
            </a:r>
            <a:r>
              <a:rPr lang="zh-CN" sz="1275">
                <a:solidFill>
                  <a:srgbClr val="D9306C"/>
                </a:solidFill>
                <a:latin typeface="Microsoft YaHei"/>
                <a:ea typeface="Microsoft YaHei"/>
              </a:rPr>
              <a:t>理解</a:t>
            </a:r>
            <a:r>
              <a:rPr lang="en-US" sz="1275">
                <a:solidFill>
                  <a:srgbClr val="D9306C"/>
                </a:solidFill>
                <a:latin typeface="Microsoft YaHei"/>
                <a:ea typeface="Microsoft YaHei"/>
              </a:rPr>
              <a:t>-</a:t>
            </a:r>
            <a:r>
              <a:rPr lang="zh-CN" sz="1275">
                <a:solidFill>
                  <a:srgbClr val="D9306C"/>
                </a:solidFill>
                <a:latin typeface="Microsoft YaHei"/>
                <a:ea typeface="Microsoft YaHei"/>
              </a:rPr>
              <a:t>匹配</a:t>
            </a:r>
            <a:r>
              <a:rPr lang="en-US" sz="1275">
                <a:solidFill>
                  <a:srgbClr val="D9306C"/>
                </a:solidFill>
                <a:latin typeface="Microsoft YaHei"/>
                <a:ea typeface="Microsoft YaHei"/>
              </a:rPr>
              <a:t>-</a:t>
            </a:r>
            <a:r>
              <a:rPr lang="zh-CN" sz="1275">
                <a:solidFill>
                  <a:srgbClr val="D9306C"/>
                </a:solidFill>
                <a:latin typeface="Microsoft YaHei"/>
                <a:ea typeface="Microsoft YaHei"/>
              </a:rPr>
              <a:t>解释」的透明范式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5857875" y="1143000"/>
            <a:ext cx="5724525" cy="5048250"/>
          </a:xfrm>
          <a:prstGeom prst="roundRect">
            <a:avLst>
              <a:gd name="adj" fmla="val 3774"/>
            </a:avLst>
          </a:prstGeom>
          <a:gradFill>
            <a:gsLst>
              <a:gs pos="0">
                <a:srgbClr val="0071E3"/>
              </a:gs>
              <a:gs pos="100000">
                <a:srgbClr val="7C3AED"/>
              </a:gs>
            </a:gsLst>
            <a:lin ang="3600000" scaled="1"/>
          </a:gra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143625" y="1428750"/>
            <a:ext cx="5153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✓ TuneMatch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的解法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143625" y="1838325"/>
            <a:ext cx="5153025" cy="828675"/>
          </a:xfrm>
          <a:prstGeom prst="roundRect">
            <a:avLst>
              <a:gd name="adj" fmla="val 16092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315075" y="2009775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多模态输入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315075" y="2305050"/>
            <a:ext cx="481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一句话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一个场景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一组标签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一个种子歌曲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一份外部歌单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143625" y="2800350"/>
            <a:ext cx="5153025" cy="828675"/>
          </a:xfrm>
          <a:prstGeom prst="roundRect">
            <a:avLst>
              <a:gd name="adj" fmla="val 16092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315075" y="2971800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可解释匹配度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315075" y="3267075"/>
            <a:ext cx="481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每条推荐附带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70-98% 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匹配度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+ 11 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维特征雷达解释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143625" y="3762375"/>
            <a:ext cx="5153025" cy="828675"/>
          </a:xfrm>
          <a:prstGeom prst="roundRect">
            <a:avLst>
              <a:gd name="adj" fmla="val 16092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315075" y="3933825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画像驱动社交预演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315075" y="4229100"/>
            <a:ext cx="481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每首歌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歌单生成音乐属性画像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未来「灵魂匹配」社交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0" name="" descr="&lt;Slide style={{ width: 1280, height: 720, background: '#ffffff', padding: '20px 64px' }}&gt;&#10;  {/* A 标题块 */}&#10;  &lt;Box style={{ height: 100, justifyContent: 'center' }}&gt;&#10;    &lt;Text style={{ fontSize: 36, fontWeight: 'bold', color: '#1D1D1F' }}&gt;核心亮点总览&lt;/Text&gt;&#10;  &lt;/Box&gt;&#10;  {/* B 内容区：2×4 图标网格（两行，每行 4 卡） */}&#10;  &lt;Box style={{ flex: 1, gap: 14, justifyContent: 'center' }}&gt;&#10;    {[&#10;      [&#10;        { icon: 'comments', t: 'AI 对话式推荐', d: 'SSE 流式输出 · 对话内嵌歌曲卡片', c: '#0071E3' },&#10;        { icon: 'music', t: '专业播放器', d: '10 段 EQ 均衡器 · 输出设备切换', c: '#7C3AED' },&#10;        { icon: 'chart-line', t: '听歌仪表盘', d: '半圆仪表 · 8 维雷达 · 圆环 · 散点', c: '#FF6B9D' },&#10;        { icon: 'cloud-arrow-down', t: '歌单导入画像', d: '粘贴歌单 → 画像 + 视觉封面', c: '#10B981' },&#10;      ],&#10;      [&#10;        { icon: 'magnifying-glass', t: '全局全文搜索', d: '歌曲/艺人/专辑/情绪 · 即时下拉', c: '#F59E0B' },&#10;        { icon: 'note-sticky', t: '歌词自动拉取', d: '详情页自动加载 · lyrics.ovh 缓存', c: '#6366F1' },&#10;        { icon: 'tags', t: '36 曲风分类', d: '热门/心情/时代/主题 · 图标网格', c: '#EC4899' },&#10;        { icon: 'route', t: '12 使用场景', d: '学习/健身/助眠/驾驶 · 实时换歌', c: '#0EA5E9' },&#10;      ],&#10;    ].map((row, ri) =&gt; (&#10;      &lt;Box key={ri} style={{ flexDirection: 'row', gap: 14, flex: 1 }}&gt;&#10;        {row.map((f) =&gt; (&#10;          &lt;Box key={f.t} style={{ flex: 1, flexDirection: 'row', gap: 16, alignItems: 'center', background: '#F5F5F7', borderRadius: 16, padding: '14px 18px' }}&gt;&#10;            &lt;Box style={{ width: 52, height: 52, borderRadius: 14, background: f.c + '22', alignItems: 'center', justifyContent: 'center' }}&gt;&#10;              &lt;FAIcon name={f.icon} style={{ fill: f.c, width: 24, height: 24 }} /&gt;&#10;            &lt;/Box&gt;&#10;            &lt;Box style={{ flex: 1, gap: 3 }}&gt;&#10;              &lt;Text style={{ fontSize: 19, fontWeight: 'bold', color: '#1D1D1F' }}&gt;{f.t}&lt;/Text&gt;&#10;              &lt;Text style={{ fontSize: 14, color: '#6E6E73', lineHeight: 1.45 }}&gt;{f.d}&lt;/Text&gt;&#10;            &lt;/Box&gt;&#10;          &lt;/Box&gt;&#10;        ))}&#10;      &lt;/Box&gt;&#10;    ))}&#10;  &lt;/Box&gt;&#10;  {/* C 页脚 */}&#10;  &lt;Box style={{ height: 50, flexDirection: 'row', alignItems: 'center', justifyContent: 'flex-end' }}&gt;&#10;    &lt;Text style={{ fontSize: 14, color: '#86868B' }}&gt;04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D1D1F"/>
                </a:solidFill>
                <a:latin typeface="Microsoft YaHei"/>
                <a:ea typeface="Microsoft YaHei"/>
              </a:rPr>
              <a:t>核心亮点总览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09600" y="1143000"/>
            <a:ext cx="2647950" cy="2457450"/>
          </a:xfrm>
          <a:prstGeom prst="roundRect">
            <a:avLst>
              <a:gd name="adj" fmla="val 6202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781050" y="21240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0071E3">
              <a:alpha val="13333"/>
            </a:srgbClr>
          </a:solidFill>
          <a:ln/>
        </p:spPr>
        <p:txBody>
          <a:bodyPr/>
          <a:p/>
        </p:txBody>
      </p:sp>
      <p:pic>
        <p:nvPicPr>
          <p:cNvPr id="1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2257425"/>
            <a:ext cx="228600" cy="228600"/>
          </a:xfrm>
          <a:prstGeom prst="rect">
            <a:avLst/>
          </a:prstGeom>
          <a:ln/>
        </p:spPr>
      </p:pic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428750" y="2019300"/>
            <a:ext cx="1657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D1D1F"/>
                </a:solidFill>
                <a:latin typeface="Microsoft YaHei"/>
                <a:ea typeface="Microsoft YaHei"/>
              </a:rPr>
              <a:t>AI </a:t>
            </a: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对话式推荐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428750" y="2266950"/>
            <a:ext cx="16573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SSE 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流式输出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对话内嵌歌曲卡片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3390900" y="1143000"/>
            <a:ext cx="2638425" cy="2457450"/>
          </a:xfrm>
          <a:prstGeom prst="roundRect">
            <a:avLst>
              <a:gd name="adj" fmla="val 6202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3562350" y="21240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7C3AED">
              <a:alpha val="13333"/>
            </a:srgbClr>
          </a:solidFill>
          <a:ln/>
        </p:spPr>
        <p:txBody>
          <a:bodyPr/>
          <a:p/>
        </p:txBody>
      </p:sp>
      <p:pic>
        <p:nvPicPr>
          <p:cNvPr id="120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 rot="0" flipH="0" flipV="0">
            <a:off x="3695700" y="2257425"/>
            <a:ext cx="228600" cy="228600"/>
          </a:xfrm>
          <a:prstGeom prst="rect">
            <a:avLst/>
          </a:prstGeom>
          <a:ln/>
        </p:spPr>
      </p:pic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210050" y="2019300"/>
            <a:ext cx="1647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专业播放器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210050" y="2266950"/>
            <a:ext cx="16478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10 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段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 EQ 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均衡器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输出设备切换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162675" y="1143000"/>
            <a:ext cx="2647950" cy="2457450"/>
          </a:xfrm>
          <a:prstGeom prst="roundRect">
            <a:avLst>
              <a:gd name="adj" fmla="val 6202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6334125" y="21240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FF6B9D">
              <a:alpha val="13333"/>
            </a:srgbClr>
          </a:solidFill>
          <a:ln/>
        </p:spPr>
        <p:txBody>
          <a:bodyPr/>
          <a:p/>
        </p:txBody>
      </p:sp>
      <p:pic>
        <p:nvPicPr>
          <p:cNvPr id="1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67475" y="2257425"/>
            <a:ext cx="228600" cy="228600"/>
          </a:xfrm>
          <a:prstGeom prst="rect">
            <a:avLst/>
          </a:prstGeom>
          <a:ln/>
        </p:spPr>
      </p:pic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981825" y="2019300"/>
            <a:ext cx="1657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听歌仪表盘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981825" y="2266950"/>
            <a:ext cx="16573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半圆仪表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 · 8 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维雷达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圆环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散点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8943975" y="1143000"/>
            <a:ext cx="2638425" cy="2457450"/>
          </a:xfrm>
          <a:prstGeom prst="roundRect">
            <a:avLst>
              <a:gd name="adj" fmla="val 6202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9115425" y="21240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10B981">
              <a:alpha val="13333"/>
            </a:srgbClr>
          </a:solidFill>
          <a:ln/>
        </p:spPr>
        <p:txBody>
          <a:bodyPr/>
          <a:p/>
        </p:txBody>
      </p:sp>
      <p:pic>
        <p:nvPicPr>
          <p:cNvPr id="1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248775" y="2257425"/>
            <a:ext cx="228600" cy="228600"/>
          </a:xfrm>
          <a:prstGeom prst="rect">
            <a:avLst/>
          </a:prstGeom>
          <a:ln/>
        </p:spPr>
      </p:pic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763125" y="2019300"/>
            <a:ext cx="1647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歌单导入画像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9763125" y="2266950"/>
            <a:ext cx="16478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粘贴歌单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画像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视觉封面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09600" y="3733800"/>
            <a:ext cx="2647950" cy="2457450"/>
          </a:xfrm>
          <a:prstGeom prst="roundRect">
            <a:avLst>
              <a:gd name="adj" fmla="val 6202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781050" y="47148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F59E0B">
              <a:alpha val="13333"/>
            </a:srgbClr>
          </a:solidFill>
          <a:ln/>
        </p:spPr>
        <p:txBody>
          <a:bodyPr/>
          <a:p/>
        </p:txBody>
      </p:sp>
      <p:pic>
        <p:nvPicPr>
          <p:cNvPr id="135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 rot="0" flipH="0" flipV="0">
            <a:off x="914400" y="4848225"/>
            <a:ext cx="228600" cy="228600"/>
          </a:xfrm>
          <a:prstGeom prst="rect">
            <a:avLst/>
          </a:prstGeom>
          <a:ln/>
        </p:spPr>
      </p:pic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428750" y="4610100"/>
            <a:ext cx="1657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全局全文搜索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428750" y="4857750"/>
            <a:ext cx="16573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歌曲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艺人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专辑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情绪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即时下拉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3390900" y="3733800"/>
            <a:ext cx="2638425" cy="2457450"/>
          </a:xfrm>
          <a:prstGeom prst="roundRect">
            <a:avLst>
              <a:gd name="adj" fmla="val 6202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3562350" y="47148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6366F1">
              <a:alpha val="13333"/>
            </a:srgbClr>
          </a:solidFill>
          <a:ln/>
        </p:spPr>
        <p:txBody>
          <a:bodyPr/>
          <a:p/>
        </p:txBody>
      </p:sp>
      <p:pic>
        <p:nvPicPr>
          <p:cNvPr id="140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 rot="0" flipH="0" flipV="0">
            <a:off x="3695700" y="4848225"/>
            <a:ext cx="228600" cy="228600"/>
          </a:xfrm>
          <a:prstGeom prst="rect">
            <a:avLst/>
          </a:prstGeom>
          <a:ln/>
        </p:spPr>
      </p:pic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210050" y="4610100"/>
            <a:ext cx="1647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歌词自动拉取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210050" y="4857750"/>
            <a:ext cx="16478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详情页自动加载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 · lyrics.ovh 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缓存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162675" y="3733800"/>
            <a:ext cx="2647950" cy="2457450"/>
          </a:xfrm>
          <a:prstGeom prst="roundRect">
            <a:avLst>
              <a:gd name="adj" fmla="val 6202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6334125" y="47148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C4899">
              <a:alpha val="13333"/>
            </a:srgbClr>
          </a:solidFill>
          <a:ln/>
        </p:spPr>
        <p:txBody>
          <a:bodyPr/>
          <a:p/>
        </p:txBody>
      </p:sp>
      <p:pic>
        <p:nvPicPr>
          <p:cNvPr id="145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 rot="0" flipH="0" flipV="0">
            <a:off x="6467475" y="4848225"/>
            <a:ext cx="228600" cy="228600"/>
          </a:xfrm>
          <a:prstGeom prst="rect">
            <a:avLst/>
          </a:prstGeom>
          <a:ln/>
        </p:spPr>
      </p:pic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981825" y="4610100"/>
            <a:ext cx="1657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D1D1F"/>
                </a:solidFill>
                <a:latin typeface="Microsoft YaHei"/>
                <a:ea typeface="Microsoft YaHei"/>
              </a:rPr>
              <a:t>36 </a:t>
            </a: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曲风分类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981825" y="4857750"/>
            <a:ext cx="16573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热门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心情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时代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主题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图标网格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8943975" y="3733800"/>
            <a:ext cx="2638425" cy="2457450"/>
          </a:xfrm>
          <a:prstGeom prst="roundRect">
            <a:avLst>
              <a:gd name="adj" fmla="val 6202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9115425" y="47148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0EA5E9">
              <a:alpha val="13333"/>
            </a:srgbClr>
          </a:solidFill>
          <a:ln/>
        </p:spPr>
        <p:txBody>
          <a:bodyPr/>
          <a:p/>
        </p:txBody>
      </p:sp>
      <p:pic>
        <p:nvPicPr>
          <p:cNvPr id="150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 rot="0" flipH="0" flipV="0">
            <a:off x="9248775" y="4848225"/>
            <a:ext cx="228600" cy="228600"/>
          </a:xfrm>
          <a:prstGeom prst="rect">
            <a:avLst/>
          </a:prstGeom>
          <a:ln/>
        </p:spPr>
      </p:pic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9763125" y="4610100"/>
            <a:ext cx="1647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D1D1F"/>
                </a:solidFill>
                <a:latin typeface="Microsoft YaHei"/>
                <a:ea typeface="Microsoft YaHei"/>
              </a:rPr>
              <a:t>12 </a:t>
            </a: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使用场景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763125" y="4857750"/>
            <a:ext cx="16478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学习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健身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助眠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驾驶</a:t>
            </a: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实时换歌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54" name="" descr="&lt;Slide style={{ width: 1280, height: 720, background: '#F5F5F7', padding: '20px 64px' }}&gt;&#10;  {/* A 标题块 */}&#10;  &lt;Box style={{ height: 100, flexDirection: 'row', alignItems: 'center', gap: 16 }}&gt;&#10;    &lt;Box style={{ width: 10, height: 44, background: '#7C3AED', borderRadius: 6 }} /&gt;&#10;    &lt;Text style={{ fontSize: 36, fontWeight: 'bold', color: '#1D1D1F' }}&gt;02 · 核心流程演示：AI 对话找歌&lt;/Text&gt;&#10;  &lt;/Box&gt;&#10;  {/* B 内容区：左流程图 右结果 */}&#10;  &lt;Box style={{ flex: 1, flexDirection: 'row', gap: 28, alignItems: 'center' }}&gt;&#10;    {/* 左：流程 4 步 */}&#10;    &lt;Box style={{ flex: 1, gap: 18 }}&gt;&#10;      {[&#10;        { n: '①', t: '用户输入', d: '&quot;我想听浪漫的歌&quot;', c: '#0071E3' },&#10;        { n: '②', t: '语义解析', d: '抽取曲风 romantic / 情绪 浪漫', c: '#7C3AED' },&#10;        { n: '③', t: '曲库匹配', d: '11 维特征打分 → 排序取 Top5', c: '#FF6B9D' },&#10;        { n: '④', t: '卡片推送', d: 'SSE 流式返回可点击歌曲卡片', c: '#10B981' },&#10;      ].map((s, i) =&gt; (&#10;        &lt;Box key={s.n} style={{ flexDirection: 'row', alignItems: 'center', gap: 20 }}&gt;&#10;          &lt;Box style={{ width: 52, height: 52, borderRadius: 14, background: s.c, alignItems: 'center', justifyContent: 'center' }}&gt;&#10;            &lt;Text style={{ fontSize: 24, color: '#ffffff', fontWeight: 'bold' }}&gt;{s.n}&lt;/Text&gt;&#10;          &lt;/Box&gt;&#10;          &lt;Box style={{ flex: 1, background: '#ffffff', borderRadius: 14, padding: '14px 20px', boxShadow: '0 2px 12px rgba(0,0,0,0.05)' }}&gt;&#10;            &lt;Text style={{ fontSize: 19, fontWeight: 'bold', color: '#1D1D1F' }}&gt;{s.t}&lt;/Text&gt;&#10;            &lt;Text style={{ fontSize: 15, color: '#6E6E73', marginTop: 2 }}&gt;{s.d}&lt;/Text&gt;&#10;          &lt;/Box&gt;&#10;          {i &lt; 3 &amp;&amp; &lt;Text style={{ fontSize: 26, color: s.c, width: 28, textAlign: 'center' }}&gt;↓&lt;/Text&gt;}&#10;        &lt;/Box&gt;&#10;      ))}&#10;    &lt;/Box&gt;&#10;    {/* 右：推荐结果卡片 */}&#10;    &lt;Box style={{ flex: 1.05, background: '#ffffff', borderRadius: 20, padding: 26, gap: 14, boxShadow: '0 6px 28px rgba(0,0,0,0.08)' }}&gt;&#10;      &lt;Box style={{ flexDirection: 'row', alignItems: 'center', justifyContent: 'space-between' }}&gt;&#10;        &lt;Text style={{ fontSize: 20, fontWeight: 'bold', color: '#1D1D1F' }}&gt;💬 实际输出（库内真实歌曲）&lt;/Text&gt;&#10;        &lt;Text style={{ fontSize: 15, color: '#10B981' }}&gt;SSE 流式 ✓&lt;/Text&gt;&#10;      &lt;/Box&gt;&#10;      {[&#10;        { t: 'Levitating', a: 'Dua Lipa', m: '76%', c: '#0071E3' },&#10;        { t: '喜欢你', a: 'Beyond', m: '74%', c: '#7C3AED' },&#10;        { t: 'Yellow', a: 'Coldplay', m: '72%', c: '#FF6B9D' },&#10;        { t: '知足', a: '五月天', m: '71%', c: '#10B981' },&#10;      ].map((s) =&gt; (&#10;        &lt;Box key={s.t} style={{ flexDirection: 'row', alignItems: 'center', gap: 14, background: '#F5F5F7', borderRadius: 12, padding: '12px 16px' }}&gt;&#10;          &lt;Box style={{ width: 40, height: 40, borderRadius: 10, background: s.c, alignItems: 'center', justifyContent: 'center' }}&gt;&#10;            &lt;Text style={{ fontSize: 20, color: '#ffffff' }}&gt;♪&lt;/Text&gt;&#10;          &lt;/Box&gt;&#10;          &lt;Box style={{ flex: 1 }}&gt;&#10;            &lt;Text style={{ fontSize: 18, fontWeight: 'bold', color: '#1D1D1F' }}&gt;《{s.t}》&lt;/Text&gt;&#10;            &lt;Text style={{ fontSize: 14, color: '#6E6E73' }}&gt;{s.a}&lt;/Text&gt;&#10;          &lt;/Box&gt;&#10;          &lt;Box style={{ background: s.c + '22', borderRadius: 20, padding: '6px 14px' }}&gt;&#10;            &lt;Text style={{ fontSize: 16, fontWeight: 'bold', color: s.c }}&gt;{s.m}&lt;/Text&gt;&#10;          &lt;/Box&gt;&#10;        &lt;/Box&gt;&#10;      ))}&#10;      &lt;Box style={{ background: '#F0F9F4', borderRadius: 12, padding: 12 }}&gt;&#10;        &lt;Text style={{ fontSize: 14, color: '#137A45', textAlign: 'center' }}&gt;点击卡片 → 跳转详情页 → 自动拉取歌词&lt;/Text&gt;&#10;      &lt;/Box&gt;&#10;    &lt;/Box&gt;&#10;  &lt;/Box&gt;&#10;  {/* C 页脚 */}&#10;  &lt;Box style={{ height: 50, flexDirection: 'row', alignItems: 'center', justifyContent: 'flex-end' }}&gt;&#10;    &lt;Text style={{ fontSize: 14, color: '#86868B' }}&gt;05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609600" y="457200"/>
            <a:ext cx="95250" cy="419100"/>
          </a:xfrm>
          <a:prstGeom prst="roundRect">
            <a:avLst>
              <a:gd name="adj" fmla="val 6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57250" y="457200"/>
            <a:ext cx="5029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D1D1F"/>
                </a:solidFill>
                <a:latin typeface="Microsoft YaHei"/>
                <a:ea typeface="Microsoft YaHei"/>
              </a:rPr>
              <a:t>02 · </a:t>
            </a:r>
            <a:r>
              <a:rPr lang="zh-CN" sz="2700" b="1">
                <a:solidFill>
                  <a:srgbClr val="1D1D1F"/>
                </a:solidFill>
                <a:latin typeface="Microsoft YaHei"/>
                <a:ea typeface="Microsoft YaHei"/>
              </a:rPr>
              <a:t>核心流程演示：</a:t>
            </a:r>
            <a:r>
              <a:rPr lang="en-US" sz="2700" b="1">
                <a:solidFill>
                  <a:srgbClr val="1D1D1F"/>
                </a:solidFill>
                <a:latin typeface="Microsoft YaHei"/>
                <a:ea typeface="Microsoft YaHei"/>
              </a:rPr>
              <a:t>AI </a:t>
            </a:r>
            <a:r>
              <a:rPr lang="zh-CN" sz="2700" b="1">
                <a:solidFill>
                  <a:srgbClr val="1D1D1F"/>
                </a:solidFill>
                <a:latin typeface="Microsoft YaHei"/>
                <a:ea typeface="Microsoft YaHei"/>
              </a:rPr>
              <a:t>对话找歌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21526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0071E3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42950" y="226695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1295400" y="2057400"/>
            <a:ext cx="4076700" cy="676275"/>
          </a:xfrm>
          <a:prstGeom prst="roundRect">
            <a:avLst>
              <a:gd name="adj" fmla="val 1971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485900" y="2190750"/>
            <a:ext cx="3695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用户输入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485900" y="2428875"/>
            <a:ext cx="3695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E6E73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E6E73"/>
                </a:solidFill>
                <a:latin typeface="Microsoft YaHei"/>
                <a:ea typeface="Microsoft YaHei"/>
              </a:rPr>
              <a:t>我想听浪漫的歌</a:t>
            </a:r>
            <a:r>
              <a:rPr lang="en-US" sz="1125">
                <a:solidFill>
                  <a:srgbClr val="6E6E73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562600" y="2247900"/>
            <a:ext cx="26670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950">
                <a:solidFill>
                  <a:srgbClr val="0071E3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09600" y="30003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42950" y="3114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1295400" y="2905125"/>
            <a:ext cx="4076700" cy="676275"/>
          </a:xfrm>
          <a:prstGeom prst="roundRect">
            <a:avLst>
              <a:gd name="adj" fmla="val 1971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485900" y="3038475"/>
            <a:ext cx="3695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语义解析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485900" y="3276600"/>
            <a:ext cx="3695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E6E73"/>
                </a:solidFill>
                <a:latin typeface="Microsoft YaHei"/>
                <a:ea typeface="Microsoft YaHei"/>
              </a:rPr>
              <a:t>抽取曲风</a:t>
            </a:r>
            <a:r>
              <a:rPr lang="en-US" sz="1125">
                <a:solidFill>
                  <a:srgbClr val="6E6E73"/>
                </a:solidFill>
                <a:latin typeface="Microsoft YaHei"/>
                <a:ea typeface="Microsoft YaHei"/>
              </a:rPr>
              <a:t> romantic / </a:t>
            </a:r>
            <a:r>
              <a:rPr lang="zh-CN" sz="1125">
                <a:solidFill>
                  <a:srgbClr val="6E6E73"/>
                </a:solidFill>
                <a:latin typeface="Microsoft YaHei"/>
                <a:ea typeface="Microsoft YaHei"/>
              </a:rPr>
              <a:t>情绪</a:t>
            </a:r>
            <a:r>
              <a:rPr lang="en-US" sz="1125">
                <a:solidFill>
                  <a:srgbClr val="6E6E73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6E6E73"/>
                </a:solidFill>
                <a:latin typeface="Microsoft YaHei"/>
                <a:ea typeface="Microsoft YaHei"/>
              </a:rPr>
              <a:t>浪漫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562600" y="3095625"/>
            <a:ext cx="26670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950">
                <a:solidFill>
                  <a:srgbClr val="7C3AED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09600" y="384810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FF6B9D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42950" y="39624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1295400" y="3752850"/>
            <a:ext cx="4076700" cy="676275"/>
          </a:xfrm>
          <a:prstGeom prst="roundRect">
            <a:avLst>
              <a:gd name="adj" fmla="val 1971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485900" y="3886200"/>
            <a:ext cx="3695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曲库匹配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485900" y="4124325"/>
            <a:ext cx="3695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E6E73"/>
                </a:solidFill>
                <a:latin typeface="Microsoft YaHei"/>
                <a:ea typeface="Microsoft YaHei"/>
              </a:rPr>
              <a:t>11 </a:t>
            </a:r>
            <a:r>
              <a:rPr lang="zh-CN" sz="1125">
                <a:solidFill>
                  <a:srgbClr val="6E6E73"/>
                </a:solidFill>
                <a:latin typeface="Microsoft YaHei"/>
                <a:ea typeface="Microsoft YaHei"/>
              </a:rPr>
              <a:t>维特征打分</a:t>
            </a:r>
            <a:r>
              <a:rPr lang="en-US" sz="1125">
                <a:solidFill>
                  <a:srgbClr val="6E6E73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E6E73"/>
                </a:solidFill>
                <a:latin typeface="Microsoft YaHei"/>
                <a:ea typeface="Microsoft YaHei"/>
              </a:rPr>
              <a:t>排序取</a:t>
            </a:r>
            <a:r>
              <a:rPr lang="en-US" sz="1125">
                <a:solidFill>
                  <a:srgbClr val="6E6E73"/>
                </a:solidFill>
                <a:latin typeface="Microsoft YaHei"/>
                <a:ea typeface="Microsoft YaHei"/>
              </a:rPr>
              <a:t> Top5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562600" y="3943350"/>
            <a:ext cx="26670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950">
                <a:solidFill>
                  <a:srgbClr val="FF6B9D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" y="46958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42950" y="48101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1295400" y="4600575"/>
            <a:ext cx="4533900" cy="676275"/>
          </a:xfrm>
          <a:prstGeom prst="roundRect">
            <a:avLst>
              <a:gd name="adj" fmla="val 1971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485900" y="4733925"/>
            <a:ext cx="4152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卡片推送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485900" y="4972050"/>
            <a:ext cx="415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E6E73"/>
                </a:solidFill>
                <a:latin typeface="Microsoft YaHei"/>
                <a:ea typeface="Microsoft YaHei"/>
              </a:rPr>
              <a:t>SSE </a:t>
            </a:r>
            <a:r>
              <a:rPr lang="zh-CN" sz="1125">
                <a:solidFill>
                  <a:srgbClr val="6E6E73"/>
                </a:solidFill>
                <a:latin typeface="Microsoft YaHei"/>
                <a:ea typeface="Microsoft YaHei"/>
              </a:rPr>
              <a:t>流式返回可点击歌曲卡片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0" y="1562100"/>
            <a:ext cx="5486400" cy="4219575"/>
          </a:xfrm>
          <a:prstGeom prst="roundRect">
            <a:avLst>
              <a:gd name="adj" fmla="val 4515"/>
            </a:avLst>
          </a:prstGeom>
          <a:solidFill>
            <a:srgbClr val="FFFFFF"/>
          </a:solidFill>
          <a:ln/>
          <a:effectLst>
            <a:outerShdw blurRad="266700" dist="5715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343650" y="1809750"/>
            <a:ext cx="2609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D1D1F"/>
                </a:solidFill>
                <a:latin typeface="Microsoft YaHei"/>
                <a:ea typeface="Microsoft YaHei"/>
              </a:rPr>
              <a:t>💬 </a:t>
            </a:r>
            <a:r>
              <a:rPr lang="zh-CN" sz="1500" b="1">
                <a:solidFill>
                  <a:srgbClr val="1D1D1F"/>
                </a:solidFill>
                <a:latin typeface="Microsoft YaHei"/>
                <a:ea typeface="Microsoft YaHei"/>
              </a:rPr>
              <a:t>实际输出（库内真实歌曲）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0572750" y="1838325"/>
            <a:ext cx="76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0B981"/>
                </a:solidFill>
                <a:latin typeface="Microsoft YaHei"/>
                <a:ea typeface="Microsoft YaHei"/>
              </a:rPr>
              <a:t>SSE </a:t>
            </a:r>
            <a:r>
              <a:rPr lang="zh-CN" sz="1125">
                <a:solidFill>
                  <a:srgbClr val="10B981"/>
                </a:solidFill>
                <a:latin typeface="Microsoft YaHei"/>
                <a:ea typeface="Microsoft YaHei"/>
              </a:rPr>
              <a:t>流式</a:t>
            </a:r>
            <a:r>
              <a:rPr lang="en-US" sz="1125">
                <a:solidFill>
                  <a:srgbClr val="10B981"/>
                </a:solidFill>
                <a:latin typeface="Microsoft YaHei"/>
                <a:ea typeface="Microsoft YaHei"/>
              </a:rPr>
              <a:t> ✓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343650" y="2171700"/>
            <a:ext cx="4991100" cy="609600"/>
          </a:xfrm>
          <a:prstGeom prst="roundRect">
            <a:avLst>
              <a:gd name="adj" fmla="val 18750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6496050" y="22860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071E3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619875" y="236220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FFFFFF"/>
                </a:solidFill>
                <a:latin typeface="Microsoft YaHei"/>
                <a:ea typeface="Microsoft YaHei"/>
              </a:rPr>
              <a:t>♪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010400" y="2295525"/>
            <a:ext cx="3438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1D1F"/>
                </a:solidFill>
                <a:latin typeface="Microsoft YaHei"/>
                <a:ea typeface="Microsoft YaHei"/>
              </a:rPr>
              <a:t>《</a:t>
            </a:r>
            <a:r>
              <a:rPr lang="en-US" sz="1350" b="1">
                <a:solidFill>
                  <a:srgbClr val="1D1D1F"/>
                </a:solidFill>
                <a:latin typeface="Microsoft YaHei"/>
                <a:ea typeface="Microsoft YaHei"/>
              </a:rPr>
              <a:t>Levitating</a:t>
            </a:r>
            <a:r>
              <a:rPr lang="zh-CN" sz="1350" b="1">
                <a:solidFill>
                  <a:srgbClr val="1D1D1F"/>
                </a:solidFill>
                <a:latin typeface="Microsoft YaHei"/>
                <a:ea typeface="Microsoft YaHei"/>
              </a:rPr>
              <a:t>》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010400" y="2505075"/>
            <a:ext cx="3438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Dua Lipa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10582275" y="2324100"/>
            <a:ext cx="600075" cy="304800"/>
          </a:xfrm>
          <a:prstGeom prst="roundRect">
            <a:avLst>
              <a:gd name="adj" fmla="val 62500"/>
            </a:avLst>
          </a:prstGeom>
          <a:solidFill>
            <a:srgbClr val="0071E3">
              <a:alpha val="13333"/>
            </a:srgbClr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0715625" y="2381250"/>
            <a:ext cx="333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071E3"/>
                </a:solidFill>
                <a:latin typeface="Microsoft YaHei"/>
                <a:ea typeface="Microsoft YaHei"/>
              </a:rPr>
              <a:t>76%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343650" y="2914650"/>
            <a:ext cx="4991100" cy="609600"/>
          </a:xfrm>
          <a:prstGeom prst="roundRect">
            <a:avLst>
              <a:gd name="adj" fmla="val 18750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6496050" y="30289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619875" y="310515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FFFFFF"/>
                </a:solidFill>
                <a:latin typeface="Microsoft YaHei"/>
                <a:ea typeface="Microsoft YaHei"/>
              </a:rPr>
              <a:t>♪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010400" y="3038475"/>
            <a:ext cx="3438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1D1F"/>
                </a:solidFill>
                <a:latin typeface="Microsoft YaHei"/>
                <a:ea typeface="Microsoft YaHei"/>
              </a:rPr>
              <a:t>《</a:t>
            </a:r>
            <a:r>
              <a:rPr lang="zh-CN" sz="1350" b="1">
                <a:solidFill>
                  <a:srgbClr val="1D1D1F"/>
                </a:solidFill>
                <a:latin typeface="Microsoft YaHei"/>
                <a:ea typeface="Microsoft YaHei"/>
              </a:rPr>
              <a:t>喜欢你</a:t>
            </a:r>
            <a:r>
              <a:rPr lang="zh-CN" sz="1350" b="1">
                <a:solidFill>
                  <a:srgbClr val="1D1D1F"/>
                </a:solidFill>
                <a:latin typeface="Microsoft YaHei"/>
                <a:ea typeface="Microsoft YaHei"/>
              </a:rPr>
              <a:t>》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010400" y="3248025"/>
            <a:ext cx="3438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Beyond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10582275" y="3067050"/>
            <a:ext cx="600075" cy="304800"/>
          </a:xfrm>
          <a:prstGeom prst="roundRect">
            <a:avLst>
              <a:gd name="adj" fmla="val 62500"/>
            </a:avLst>
          </a:prstGeom>
          <a:solidFill>
            <a:srgbClr val="7C3AED">
              <a:alpha val="13333"/>
            </a:srgbClr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0715625" y="3124200"/>
            <a:ext cx="333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7C3AED"/>
                </a:solidFill>
                <a:latin typeface="Microsoft YaHei"/>
                <a:ea typeface="Microsoft YaHei"/>
              </a:rPr>
              <a:t>74%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343650" y="3657600"/>
            <a:ext cx="4991100" cy="609600"/>
          </a:xfrm>
          <a:prstGeom prst="roundRect">
            <a:avLst>
              <a:gd name="adj" fmla="val 18750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6496050" y="37719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F6B9D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619875" y="384810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FFFFFF"/>
                </a:solidFill>
                <a:latin typeface="Microsoft YaHei"/>
                <a:ea typeface="Microsoft YaHei"/>
              </a:rPr>
              <a:t>♪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010400" y="3781425"/>
            <a:ext cx="3438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1D1F"/>
                </a:solidFill>
                <a:latin typeface="Microsoft YaHei"/>
                <a:ea typeface="Microsoft YaHei"/>
              </a:rPr>
              <a:t>《</a:t>
            </a:r>
            <a:r>
              <a:rPr lang="en-US" sz="1350" b="1">
                <a:solidFill>
                  <a:srgbClr val="1D1D1F"/>
                </a:solidFill>
                <a:latin typeface="Microsoft YaHei"/>
                <a:ea typeface="Microsoft YaHei"/>
              </a:rPr>
              <a:t>Yellow</a:t>
            </a:r>
            <a:r>
              <a:rPr lang="zh-CN" sz="1350" b="1">
                <a:solidFill>
                  <a:srgbClr val="1D1D1F"/>
                </a:solidFill>
                <a:latin typeface="Microsoft YaHei"/>
                <a:ea typeface="Microsoft YaHei"/>
              </a:rPr>
              <a:t>》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010400" y="3990975"/>
            <a:ext cx="3438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6E73"/>
                </a:solidFill>
                <a:latin typeface="Microsoft YaHei"/>
                <a:ea typeface="Microsoft YaHei"/>
              </a:rPr>
              <a:t>Coldplay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10582275" y="3810000"/>
            <a:ext cx="600075" cy="304800"/>
          </a:xfrm>
          <a:prstGeom prst="roundRect">
            <a:avLst>
              <a:gd name="adj" fmla="val 62500"/>
            </a:avLst>
          </a:prstGeom>
          <a:solidFill>
            <a:srgbClr val="FF6B9D">
              <a:alpha val="13333"/>
            </a:srgbClr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0715625" y="3867150"/>
            <a:ext cx="333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6B9D"/>
                </a:solidFill>
                <a:latin typeface="Microsoft YaHei"/>
                <a:ea typeface="Microsoft YaHei"/>
              </a:rPr>
              <a:t>72%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343650" y="4400550"/>
            <a:ext cx="4991100" cy="609600"/>
          </a:xfrm>
          <a:prstGeom prst="roundRect">
            <a:avLst>
              <a:gd name="adj" fmla="val 18750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6496050" y="45148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619875" y="459105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FFFFFF"/>
                </a:solidFill>
                <a:latin typeface="Microsoft YaHei"/>
                <a:ea typeface="Microsoft YaHei"/>
              </a:rPr>
              <a:t>♪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010400" y="4524375"/>
            <a:ext cx="3438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1D1F"/>
                </a:solidFill>
                <a:latin typeface="Microsoft YaHei"/>
                <a:ea typeface="Microsoft YaHei"/>
              </a:rPr>
              <a:t>《</a:t>
            </a:r>
            <a:r>
              <a:rPr lang="zh-CN" sz="1350" b="1">
                <a:solidFill>
                  <a:srgbClr val="1D1D1F"/>
                </a:solidFill>
                <a:latin typeface="Microsoft YaHei"/>
                <a:ea typeface="Microsoft YaHei"/>
              </a:rPr>
              <a:t>知足</a:t>
            </a:r>
            <a:r>
              <a:rPr lang="zh-CN" sz="1350" b="1">
                <a:solidFill>
                  <a:srgbClr val="1D1D1F"/>
                </a:solidFill>
                <a:latin typeface="Microsoft YaHei"/>
                <a:ea typeface="Microsoft YaHei"/>
              </a:rPr>
              <a:t>》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010400" y="4733925"/>
            <a:ext cx="3438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6E73"/>
                </a:solidFill>
                <a:latin typeface="Microsoft YaHei"/>
                <a:ea typeface="Microsoft YaHei"/>
              </a:rPr>
              <a:t>五月天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10582275" y="4552950"/>
            <a:ext cx="600075" cy="304800"/>
          </a:xfrm>
          <a:prstGeom prst="roundRect">
            <a:avLst>
              <a:gd name="adj" fmla="val 62500"/>
            </a:avLst>
          </a:prstGeom>
          <a:solidFill>
            <a:srgbClr val="10B981">
              <a:alpha val="13333"/>
            </a:srgbClr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0715625" y="4610100"/>
            <a:ext cx="333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0B981"/>
                </a:solidFill>
                <a:latin typeface="Microsoft YaHei"/>
                <a:ea typeface="Microsoft YaHei"/>
              </a:rPr>
              <a:t>71%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343650" y="5143500"/>
            <a:ext cx="4991100" cy="390525"/>
          </a:xfrm>
          <a:prstGeom prst="roundRect">
            <a:avLst>
              <a:gd name="adj" fmla="val 29268"/>
            </a:avLst>
          </a:prstGeom>
          <a:solidFill>
            <a:srgbClr val="F0F9F4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457950" y="5257800"/>
            <a:ext cx="4762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137A45"/>
                </a:solidFill>
                <a:latin typeface="Microsoft YaHei"/>
                <a:ea typeface="Microsoft YaHei"/>
              </a:rPr>
              <a:t>点击卡片</a:t>
            </a:r>
            <a:r>
              <a:rPr lang="en-US" sz="1050">
                <a:solidFill>
                  <a:srgbClr val="137A45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137A45"/>
                </a:solidFill>
                <a:latin typeface="Microsoft YaHei"/>
                <a:ea typeface="Microsoft YaHei"/>
              </a:rPr>
              <a:t>跳转详情页</a:t>
            </a:r>
            <a:r>
              <a:rPr lang="en-US" sz="1050">
                <a:solidFill>
                  <a:srgbClr val="137A45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137A45"/>
                </a:solidFill>
                <a:latin typeface="Microsoft YaHei"/>
                <a:ea typeface="Microsoft YaHei"/>
              </a:rPr>
              <a:t>自动拉取歌词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15" name="" descr="&lt;Slide style={{ width: 1280, height: 720, background: '#ffffff', padding: '20px 64px' }}&gt;&#10;  {/* A 标题块 */}&#10;  &lt;Box style={{ height: 100, flexDirection: 'row', alignItems: 'center', gap: 16 }}&gt;&#10;    &lt;Box style={{ width: 10, height: 44, background: '#0071E3', borderRadius: 6 }} /&gt;&#10;    &lt;Text style={{ fontSize: 36, fontWeight: 'bold', color: '#1D1D1F' }}&gt;03 · 技术架构&lt;/Text&gt;&#10;  &lt;/Box&gt;&#10;  {/* B 内容区：三层架构 */}&#10;  &lt;Box style={{ flex: 1, gap: 16, justifyContent: 'center' }}&gt;&#10;    {/* 前端层 */}&#10;    &lt;Box style={{ background: 'linear-gradient(135deg, #0071E3, #4D9BF7)', borderRadius: 18, padding: '22px 28px', gap: 8 }}&gt;&#10;      &lt;Box style={{ flexDirection: 'row', alignItems: 'center', gap: 12 }}&gt;&#10;        &lt;Text style={{ fontSize: 22, fontWeight: 'bold', color: '#ffffff' }}&gt;前端层 Frontend&lt;/Text&gt;&#10;        &lt;Text style={{ fontSize: 15, color: 'rgba(255,255,255,0.85)' }}&gt;11 页面 · 10 组件 · Apple 风格 UI&lt;/Text&gt;&#10;      &lt;/Box&gt;&#10;      &lt;Text style={{ fontSize: 17, color: 'rgba(255,255,255,0.95)' }}&gt;Vue 3 · TypeScript · Vite · Tailwind CSS · Pinia · Vue Router · Axios&lt;/Text&gt;&#10;      &lt;Text style={{ fontSize: 15, color: 'rgba(255,255,255,0.8)' }}&gt;SSE 流式对话 · Web Audio 真实播放 · EQ 均衡器 · Mock 离线兜底&lt;/Text&gt;&#10;    &lt;/Box&gt;&#10;    {/* 后端层 */}&#10;    &lt;Box style={{ background: 'linear-gradient(135deg, #7C3AED, #A78BFA)', borderRadius: 18, padding: '22px 28px', gap: 8 }}&gt;&#10;      &lt;Box style={{ flexDirection: 'row', alignItems: 'center', gap: 12 }}&gt;&#10;        &lt;Text style={{ fontSize: 22, fontWeight: 'bold', color: '#ffffff' }}&gt;后端层 Backend&lt;/Text&gt;&#10;        &lt;Text style={{ fontSize: 15, color: 'rgba(255,255,255,0.85)' }}&gt;9 路由模块 · 29+ REST 接口 · 12 服务&lt;/Text&gt;&#10;      &lt;/Box&gt;&#10;      &lt;Text style={{ fontSize: 17, color: 'rgba(255,255,255,0.95)' }}&gt;FastAPI · Uvicorn · SQLAlchemy ORM · Pydantic v2 · SQLite&lt;/Text&gt;&#10;      &lt;Text style={{ fontSize: 15, color: 'rgba(255,255,255,0.8)' }}&gt;推荐引擎 · 歌词服务 · 歌单导入画像 · 配置持久化 · PDF/海报导出&lt;/Text&gt;&#10;    &lt;/Box&gt;&#10;    {/* 数据源层 */}&#10;    &lt;Box style={{ background: 'linear-gradient(135deg, #FF6B9D, #FF9A76)', borderRadius: 18, padding: '22px 28px', gap: 8 }}&gt;&#10;      &lt;Box style={{ flexDirection: 'row', alignItems: 'center', gap: 12 }}&gt;&#10;        &lt;Text style={{ fontSize: 22, fontWeight: 'bold', color: '#ffffff' }}&gt;数据源层 Data&lt;/Text&gt;&#10;        &lt;Text style={{ fontSize: 15, color: 'rgba(255,255,255,0.85)' }}&gt;四源接入 · 无需商业 Key&lt;/Text&gt;&#10;      &lt;/Box&gt;&#10;      &lt;Text style={{ fontSize: 17, color: 'rgba(255,255,255,0.95)' }}&gt;iTunes Search（封面+试听）· Apple RSS 热门榜 · Jamendo 全首曲库 · lyrics.ovh 歌词&lt;/Text&gt;&#10;      &lt;Text style={{ fontSize: 15, color: 'rgba(255,255,255,0.8)' }}&gt;可选：OpenAI SDK（硅基流动/DeepSeek）· ChromaDB 向量检索 · librosa 特征 · ReportLab PDF&lt;/Text&gt;&#10;    &lt;/Box&gt;&#10;  &lt;/Box&gt;&#10;  {/* C 页脚 */}&#10;  &lt;Box style={{ height: 50, flexDirection: 'row', alignItems: 'center', justifyContent: 'flex-end' }}&gt;&#10;    &lt;Text style={{ fontSize: 14, color: '#86868B' }}&gt;06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609600" y="457200"/>
            <a:ext cx="95250" cy="419100"/>
          </a:xfrm>
          <a:prstGeom prst="roundRect">
            <a:avLst>
              <a:gd name="adj" fmla="val 60000"/>
            </a:avLst>
          </a:prstGeom>
          <a:solidFill>
            <a:srgbClr val="0071E3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57250" y="457200"/>
            <a:ext cx="21526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D1D1F"/>
                </a:solidFill>
                <a:latin typeface="Microsoft YaHei"/>
                <a:ea typeface="Microsoft YaHei"/>
              </a:rPr>
              <a:t>03 · </a:t>
            </a:r>
            <a:r>
              <a:rPr lang="zh-CN" sz="2700" b="1">
                <a:solidFill>
                  <a:srgbClr val="1D1D1F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1714500"/>
            <a:ext cx="10972800" cy="12001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0071E3"/>
              </a:gs>
              <a:gs pos="100000">
                <a:srgbClr val="4D9BF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76300" y="1924050"/>
            <a:ext cx="1657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前端层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Frontend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2647950" y="1971675"/>
            <a:ext cx="2152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11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页面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· 10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组件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· Apple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风格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UI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76300" y="2257425"/>
            <a:ext cx="10439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Vue 3 · TypeScript · Vite · Tailwind CSS · Pinia · Vue Router · Axios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76300" y="2533650"/>
            <a:ext cx="1043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SSE </a:t>
            </a: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流式对话</a:t>
            </a:r>
            <a:r>
              <a:rPr lang="en-US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Web Audio </a:t>
            </a: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真实播放</a:t>
            </a:r>
            <a:r>
              <a:rPr lang="en-US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EQ </a:t>
            </a: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均衡器</a:t>
            </a:r>
            <a:r>
              <a:rPr lang="en-US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Mock </a:t>
            </a: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离线兜底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9600" y="3067050"/>
            <a:ext cx="10972800" cy="12001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7C3AED"/>
              </a:gs>
              <a:gs pos="100000">
                <a:srgbClr val="A78BF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76300" y="3276600"/>
            <a:ext cx="1590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后端层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Backend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2581275" y="3324225"/>
            <a:ext cx="2419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9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路由模块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· 29+ REST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接口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· 12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76300" y="3609975"/>
            <a:ext cx="10439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FastAPI · Uvicorn · SQLAlchemy ORM · Pydantic v2 · SQLite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76300" y="3886200"/>
            <a:ext cx="1043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推荐引擎</a:t>
            </a:r>
            <a:r>
              <a:rPr lang="en-US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歌词服务</a:t>
            </a:r>
            <a:r>
              <a:rPr lang="en-US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歌单导入画像</a:t>
            </a:r>
            <a:r>
              <a:rPr lang="en-US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配置持久化</a:t>
            </a:r>
            <a:r>
              <a:rPr lang="en-US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PDF/</a:t>
            </a: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海报导出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09600" y="4419600"/>
            <a:ext cx="10972800" cy="12001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FF6B9D"/>
              </a:gs>
              <a:gs pos="100000">
                <a:srgbClr val="FF9A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76300" y="4629150"/>
            <a:ext cx="1400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数据源层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Data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2390775" y="4676775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四源接入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无需商业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Key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76300" y="4962525"/>
            <a:ext cx="10439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iTunes Search</a:t>
            </a:r>
            <a:r>
              <a:rPr lang="zh-CN" sz="12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（封面</a:t>
            </a:r>
            <a:r>
              <a:rPr lang="en-US" sz="12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+</a:t>
            </a:r>
            <a:r>
              <a:rPr lang="zh-CN" sz="12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试听）·</a:t>
            </a:r>
            <a:r>
              <a:rPr lang="en-US" sz="12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Apple RSS </a:t>
            </a:r>
            <a:r>
              <a:rPr lang="zh-CN" sz="12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热门榜</a:t>
            </a:r>
            <a:r>
              <a:rPr lang="en-US" sz="12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· Jamendo </a:t>
            </a:r>
            <a:r>
              <a:rPr lang="zh-CN" sz="12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全首曲库</a:t>
            </a:r>
            <a:r>
              <a:rPr lang="en-US" sz="12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· lyrics.ovh </a:t>
            </a:r>
            <a:r>
              <a:rPr lang="zh-CN" sz="12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歌词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76300" y="5238750"/>
            <a:ext cx="1043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可选：</a:t>
            </a:r>
            <a:r>
              <a:rPr lang="en-US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OpenAI SDK</a:t>
            </a: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（硅基流动</a:t>
            </a:r>
            <a:r>
              <a:rPr lang="en-US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/DeepSeek</a:t>
            </a: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）·</a:t>
            </a:r>
            <a:r>
              <a:rPr lang="en-US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ChromaDB </a:t>
            </a: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向量检索</a:t>
            </a:r>
            <a:r>
              <a:rPr lang="en-US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librosa </a:t>
            </a: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特征</a:t>
            </a:r>
            <a:r>
              <a:rPr lang="en-US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ReportLab PDF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>
    <p:spTree>
      <p:nvGrpSpPr>
        <p:cNvPr id="235" name="" descr="&lt;Slide style={{ width: 1280, height: 720, background: '#0F172A', padding: '20px 64px' }}&gt;&#10;  {/* A 标题块 */}&#10;  &lt;Box style={{ height: 90, justifyContent: 'center' }}&gt;&#10;    &lt;Text style={{ fontSize: 36, fontWeight: 'bold', color: '#ffffff' }}&gt;04 · 数据成果&lt;/Text&gt;&#10;  &lt;/Box&gt;&#10;  {/* B 内容区：巨型数字 + 圆环 */}&#10;  &lt;Box style={{ flex: 1, flexDirection: 'row', gap: 40, alignItems: 'center' }}&gt;&#10;    {/* 左：巨型数字 */}&#10;    &lt;Box style={{ flex: 1, gap: 20 }}&gt;&#10;      &lt;Box style={{ flexDirection: 'row', alignItems: 'baseline', gap: 16 }}&gt;&#10;        &lt;Text style={{ fontSize: 150, fontWeight: 'bold', color: '#4DABF7', lineHeight: 1 }}&gt;777&lt;/Text&gt;&#10;        &lt;Text style={{ fontSize: 26, color: '#94A3B8' }}&gt;首&lt;/Text&gt;&#10;      &lt;/Box&gt;&#10;      &lt;Text style={{ fontSize: 24, fontWeight: 'bold', color: '#ffffff' }}&gt;真实可听曲库&lt;/Text&gt;&#10;      &lt;Text style={{ fontSize: 17, color: '#94A3B8', lineHeight: 1.8 }}&gt;&#10;        100% 带 30s 试听音频 · 774 首带真实封面&lt;br /&gt;144 首带歌词 · 44 个曲风分类&#10;      &lt;/Text&gt;&#10;      &lt;Box style={{ flexDirection: 'row', gap: 28, marginTop: 12 }}&gt;&#10;        &lt;Box&gt;&#10;          &lt;Text style={{ fontSize: 40, fontWeight: 'bold', color: '#FF6B9D' }}&gt;36&lt;/Text&gt;&#10;          &lt;Text style={{ fontSize: 15, color: '#94A3B8' }}&gt;情绪标签&lt;/Text&gt;&#10;        &lt;/Box&gt;&#10;        &lt;Box&gt;&#10;          &lt;Text style={{ fontSize: 40, fontWeight: 'bold', color: '#10B981' }}&gt;12&lt;/Text&gt;&#10;          &lt;Text style={{ fontSize: 15, color: '#94A3B8' }}&gt;使用场景&lt;/Text&gt;&#10;        &lt;/Box&gt;&#10;        &lt;Box&gt;&#10;          &lt;Text style={{ fontSize: 40, fontWeight: 'bold', color: '#A78BFA' }}&gt;49&lt;/Text&gt;&#10;          &lt;Text style={{ fontSize: 15, color: '#94A3B8' }}&gt;测试用例全过&lt;/Text&gt;&#10;        &lt;/Box&gt;&#10;      &lt;/Box&gt;&#10;    &lt;/Box&gt;&#10;    {/* 右：曲风分布圆环 */}&#10;    &lt;Box style={{ flex: 1.1, background: '#1E293B', borderRadius: 20, padding: 24, gap: 8 }}&gt;&#10;      &lt;Text style={{ fontSize: 20, fontWeight: 'bold', color: '#ffffff' }}&gt;曲风分布 Top 6&lt;/Text&gt;&#10;      &lt;Chart&#10;        style={{ height: 340 }}&#10;        chartType='doughnutChart'&#10;        data={[&#10;          ['曲风', '数量'],&#10;          ['流行 pop', 47],&#10;          ['乡村 country', 45],&#10;          ['说唱 hip-hop', 44],&#10;          ['摇滚 rock', 35],&#10;          ['民谣 folk', 24],&#10;          ['其他 37 类', 582],&#10;        ]}&#10;      /&gt;&#10;      &lt;Text style={{ fontSize: 14, color: '#64748B', textAlign: 'center' }}&gt;数据来源：iTunes Search + Apple RSS 热门榜 + Jamendo&lt;/Text&gt;&#10;    &lt;/Box&gt;&#10;  &lt;/Box&gt;&#10;  {/* C 页脚 */}&#10;  &lt;Box style={{ height: 50, flexDirection: 'row', alignItems: 'center', justifyContent: 'flex-end' }}&gt;&#10;    &lt;Text style={{ fontSize: 14, color: '#475569' }}&gt;07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9600" y="4095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FFFFF"/>
                </a:solidFill>
                <a:latin typeface="Microsoft YaHei"/>
                <a:ea typeface="Microsoft YaHei"/>
              </a:rPr>
              <a:t>04 · </a:t>
            </a: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数据成果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1619250"/>
            <a:ext cx="26479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4DABF7"/>
                </a:solidFill>
                <a:latin typeface="Microsoft YaHei"/>
                <a:ea typeface="Microsoft YaHei"/>
              </a:rPr>
              <a:t>777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3409950" y="1619250"/>
            <a:ext cx="2476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94A3B8"/>
                </a:solidFill>
                <a:latin typeface="Microsoft YaHei"/>
                <a:ea typeface="Microsoft YaHei"/>
              </a:rPr>
              <a:t>首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09600" y="3524250"/>
            <a:ext cx="5048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真实可听曲库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09600" y="3990975"/>
            <a:ext cx="5048250" cy="7048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100%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带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 30s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试听音频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 · 774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首带真实封面</a:t>
            </a:r>
            <a:endParaRPr/>
          </a:p>
          <a:p>
            <a:pPr>
              <a:lnSpc>
                <a:spcPct val="18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144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首带歌词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 · 44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个曲风分类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09600" y="5000625"/>
            <a:ext cx="5715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6B9D"/>
                </a:solidFill>
                <a:latin typeface="Microsoft YaHei"/>
                <a:ea typeface="Microsoft YaHei"/>
              </a:rPr>
              <a:t>36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09600" y="54578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情绪标签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447800" y="5000625"/>
            <a:ext cx="5715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0B981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447800" y="54578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使用场景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2286000" y="5000625"/>
            <a:ext cx="857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A78BFA"/>
                </a:solidFill>
                <a:latin typeface="Microsoft YaHei"/>
                <a:ea typeface="Microsoft YaHei"/>
              </a:rPr>
              <a:t>49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2286000" y="54578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测试用例全过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038850" y="1504950"/>
            <a:ext cx="5543550" cy="4238625"/>
          </a:xfrm>
          <a:prstGeom prst="roundRect">
            <a:avLst>
              <a:gd name="adj" fmla="val 4494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267450" y="1733550"/>
            <a:ext cx="5086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曲风分布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Top 6</a:t>
            </a:r>
            <a:endParaRPr/>
          </a:p>
        </p:txBody>
      </p:sp>
      <p:graphicFrame>
        <p:nvGraphicFramePr>
          <p:cNvPr id="250" name="250"/>
          <p:cNvGraphicFramePr/>
          <p:nvPr/>
        </p:nvGraphicFramePr>
        <p:xfrm rot="0" flipH="0" flipV="0">
          <a:off x="6267450" y="2038350"/>
          <a:ext cx="5086350" cy="32385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267450" y="5353050"/>
            <a:ext cx="50863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数据来源：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iTunes Search + Apple RSS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热门榜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+ Jamendo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53" name="" descr="&lt;Slide style={{ width: 1280, height: 720, background: '#ffffff', padding: '20px 64px' }}&gt;&#10;  {/* A 标题块 */}&#10;  &lt;Box style={{ height: 100, justifyContent: 'center' }}&gt;&#10;    &lt;Text style={{ fontSize: 36, fontWeight: 'bold', color: '#1D1D1F' }}&gt;创新点 · Innovations&lt;/Text&gt;&#10;  &lt;/Box&gt;&#10;  {/* B 内容区：4 大创新卡 */}&#10;  &lt;Box style={{ flex: 1, flexDirection: 'row', gap: 22, justifyContent: 'center' }}&gt;&#10;    {[&#10;      { n: '01', t: '透明可解释推荐', d: '每条推荐附带 70-98% 匹配度与特征解释，列表页保证非 0%，用户可理解推荐逻辑', c: '#0071E3', i: 'magnifying-glass-chart' },&#10;      { n: '02', t: '画像驱动社交预演', d: '每首歌 11 维特征 + 每歌单曲风画像，为「相似品味匹配」社交功能预留数据管道', c: '#7C3AED', i: 'user-group' },&#10;      { n: '03', t: '零成本三源曲库', d: 'iTunes Search + Apple RSS 热门榜 + Jamendo，无需商业 Key 即获 777 首真实可听曲目', c: '#FF6B9D', i: 'database' },&#10;      { n: '04', t: '歌单导入即画像', d: '粘贴任意歌单文本 → 自动匹配、曲风画像、生成专辑级 SVG 创意封面，形成导入-分析-可视化闭环', c: '#10B981', i: 'wand-magic-sparkles' },&#10;    ].map((f) =&gt; (&#10;      &lt;Box key={f.n} style={{ flex: 1, background: '#F5F5F7', borderRadius: 20, padding: 26, gap: 14, justifyContent: 'space-between' }}&gt;&#10;        &lt;Box style={{ flexDirection: 'row', alignItems: 'center', justifyContent: 'space-between' }}&gt;&#10;          &lt;Text style={{ fontSize: 36, fontWeight: 'bold', color: f.c }}&gt;{f.n}&lt;/Text&gt;&#10;          &lt;FAIcon name={f.i} style={{ fill: f.c, width: 34, height: 34 }} /&gt;&#10;        &lt;/Box&gt;&#10;        &lt;Box style={{ gap: 8 }}&gt;&#10;          &lt;Text style={{ fontSize: 23, fontWeight: 'bold', color: '#1D1D1F' }}&gt;{f.t}&lt;/Text&gt;&#10;          &lt;Text style={{ fontSize: 16, color: '#6E6E73', lineHeight: 1.7 }}&gt;{f.d}&lt;/Text&gt;&#10;        &lt;/Box&gt;&#10;        &lt;Box style={{ width: 44, height: 5, background: f.c, borderRadius: 3 }} /&gt;&#10;      &lt;/Box&gt;&#10;    ))}&#10;  &lt;/Box&gt;&#10;  {/* C 页脚 */}&#10;  &lt;Box style={{ height: 50, flexDirection: 'row', alignItems: 'center', justifyContent: 'flex-end' }}&gt;&#10;    &lt;Text style={{ fontSize: 14, color: '#86868B' }}&gt;08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D1D1F"/>
                </a:solidFill>
                <a:latin typeface="Microsoft YaHei"/>
                <a:ea typeface="Microsoft YaHei"/>
              </a:rPr>
              <a:t>创新点</a:t>
            </a:r>
            <a:r>
              <a:rPr lang="en-US" sz="2700" b="1">
                <a:solidFill>
                  <a:srgbClr val="1D1D1F"/>
                </a:solidFill>
                <a:latin typeface="Microsoft YaHei"/>
                <a:ea typeface="Microsoft YaHei"/>
              </a:rPr>
              <a:t> · Innovations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09600" y="1143000"/>
            <a:ext cx="2590800" cy="5048250"/>
          </a:xfrm>
          <a:prstGeom prst="roundRect">
            <a:avLst>
              <a:gd name="adj" fmla="val 7353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57250" y="1390650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071E3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pic>
        <p:nvPicPr>
          <p:cNvPr id="258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 rot="0" flipH="0" flipV="0">
            <a:off x="2628900" y="1438275"/>
            <a:ext cx="323850" cy="323850"/>
          </a:xfrm>
          <a:prstGeom prst="rect">
            <a:avLst/>
          </a:prstGeom>
          <a:ln/>
        </p:spPr>
      </p:pic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57250" y="3219450"/>
            <a:ext cx="209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D1D1F"/>
                </a:solidFill>
                <a:latin typeface="Microsoft YaHei"/>
                <a:ea typeface="Microsoft YaHei"/>
              </a:rPr>
              <a:t>透明可解释推荐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57250" y="3562350"/>
            <a:ext cx="20955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6E6E73"/>
                </a:solidFill>
                <a:latin typeface="Microsoft YaHei"/>
                <a:ea typeface="Microsoft YaHei"/>
              </a:rPr>
              <a:t>每条推荐附带</a:t>
            </a:r>
            <a:r>
              <a:rPr lang="en-US" sz="1200">
                <a:solidFill>
                  <a:srgbClr val="6E6E73"/>
                </a:solidFill>
                <a:latin typeface="Microsoft YaHei"/>
                <a:ea typeface="Microsoft YaHei"/>
              </a:rPr>
              <a:t> 70-98% </a:t>
            </a:r>
            <a:r>
              <a:rPr lang="zh-CN" sz="1200">
                <a:solidFill>
                  <a:srgbClr val="6E6E73"/>
                </a:solidFill>
                <a:latin typeface="Microsoft YaHei"/>
                <a:ea typeface="Microsoft YaHei"/>
              </a:rPr>
              <a:t>匹配度与特征解释，列表页保证非</a:t>
            </a:r>
            <a:r>
              <a:rPr lang="en-US" sz="1200">
                <a:solidFill>
                  <a:srgbClr val="6E6E73"/>
                </a:solidFill>
                <a:latin typeface="Microsoft YaHei"/>
                <a:ea typeface="Microsoft YaHei"/>
              </a:rPr>
              <a:t> 0%</a:t>
            </a:r>
            <a:r>
              <a:rPr lang="zh-CN" sz="1200">
                <a:solidFill>
                  <a:srgbClr val="6E6E73"/>
                </a:solidFill>
                <a:latin typeface="Microsoft YaHei"/>
                <a:ea typeface="Microsoft YaHei"/>
              </a:rPr>
              <a:t>，用户可理解推荐逻辑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857250" y="5895975"/>
            <a:ext cx="419100" cy="47625"/>
          </a:xfrm>
          <a:prstGeom prst="roundRect">
            <a:avLst>
              <a:gd name="adj" fmla="val 60000"/>
            </a:avLst>
          </a:prstGeom>
          <a:solidFill>
            <a:srgbClr val="0071E3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3409950" y="1143000"/>
            <a:ext cx="2581275" cy="5048250"/>
          </a:xfrm>
          <a:prstGeom prst="roundRect">
            <a:avLst>
              <a:gd name="adj" fmla="val 7380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657600" y="1390650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7C3AED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pic>
        <p:nvPicPr>
          <p:cNvPr id="264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 rot="0" flipH="0" flipV="0">
            <a:off x="5419725" y="1438275"/>
            <a:ext cx="323850" cy="323850"/>
          </a:xfrm>
          <a:prstGeom prst="rect">
            <a:avLst/>
          </a:prstGeom>
          <a:ln/>
        </p:spPr>
      </p:pic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657600" y="3219450"/>
            <a:ext cx="20859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D1D1F"/>
                </a:solidFill>
                <a:latin typeface="Microsoft YaHei"/>
                <a:ea typeface="Microsoft YaHei"/>
              </a:rPr>
              <a:t>画像驱动社交预演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3657600" y="3562350"/>
            <a:ext cx="20859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6E6E73"/>
                </a:solidFill>
                <a:latin typeface="Microsoft YaHei"/>
                <a:ea typeface="Microsoft YaHei"/>
              </a:rPr>
              <a:t>每首歌</a:t>
            </a:r>
            <a:r>
              <a:rPr lang="en-US" sz="1200">
                <a:solidFill>
                  <a:srgbClr val="6E6E73"/>
                </a:solidFill>
                <a:latin typeface="Microsoft YaHei"/>
                <a:ea typeface="Microsoft YaHei"/>
              </a:rPr>
              <a:t> 11 </a:t>
            </a:r>
            <a:r>
              <a:rPr lang="zh-CN" sz="1200">
                <a:solidFill>
                  <a:srgbClr val="6E6E73"/>
                </a:solidFill>
                <a:latin typeface="Microsoft YaHei"/>
                <a:ea typeface="Microsoft YaHei"/>
              </a:rPr>
              <a:t>维特征</a:t>
            </a:r>
            <a:r>
              <a:rPr lang="en-US" sz="1200">
                <a:solidFill>
                  <a:srgbClr val="6E6E73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6E6E73"/>
                </a:solidFill>
                <a:latin typeface="Microsoft YaHei"/>
                <a:ea typeface="Microsoft YaHei"/>
              </a:rPr>
              <a:t>每歌单曲风画像，为「相似品味匹配」社交功能预留数据管道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3657600" y="5895975"/>
            <a:ext cx="419100" cy="47625"/>
          </a:xfrm>
          <a:prstGeom prst="roundRect">
            <a:avLst>
              <a:gd name="adj" fmla="val 6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6200775" y="1143000"/>
            <a:ext cx="2590800" cy="5048250"/>
          </a:xfrm>
          <a:prstGeom prst="roundRect">
            <a:avLst>
              <a:gd name="adj" fmla="val 7353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448425" y="1390650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F6B9D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pic>
        <p:nvPicPr>
          <p:cNvPr id="2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220075" y="1438275"/>
            <a:ext cx="323850" cy="323850"/>
          </a:xfrm>
          <a:prstGeom prst="rect">
            <a:avLst/>
          </a:prstGeom>
          <a:ln/>
        </p:spPr>
      </p:pic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448425" y="3219450"/>
            <a:ext cx="209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D1D1F"/>
                </a:solidFill>
                <a:latin typeface="Microsoft YaHei"/>
                <a:ea typeface="Microsoft YaHei"/>
              </a:rPr>
              <a:t>零成本三源曲库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448425" y="3562350"/>
            <a:ext cx="20955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6E6E73"/>
                </a:solidFill>
                <a:latin typeface="Microsoft YaHei"/>
                <a:ea typeface="Microsoft YaHei"/>
              </a:rPr>
              <a:t>iTunes Search + Apple RSS </a:t>
            </a:r>
            <a:r>
              <a:rPr lang="zh-CN" sz="1200">
                <a:solidFill>
                  <a:srgbClr val="6E6E73"/>
                </a:solidFill>
                <a:latin typeface="Microsoft YaHei"/>
                <a:ea typeface="Microsoft YaHei"/>
              </a:rPr>
              <a:t>热门榜</a:t>
            </a:r>
            <a:r>
              <a:rPr lang="en-US" sz="1200">
                <a:solidFill>
                  <a:srgbClr val="6E6E73"/>
                </a:solidFill>
                <a:latin typeface="Microsoft YaHei"/>
                <a:ea typeface="Microsoft YaHei"/>
              </a:rPr>
              <a:t> + Jamendo</a:t>
            </a:r>
            <a:r>
              <a:rPr lang="zh-CN" sz="1200">
                <a:solidFill>
                  <a:srgbClr val="6E6E73"/>
                </a:solidFill>
                <a:latin typeface="Microsoft YaHei"/>
                <a:ea typeface="Microsoft YaHei"/>
              </a:rPr>
              <a:t>，无需商业</a:t>
            </a:r>
            <a:r>
              <a:rPr lang="en-US" sz="1200">
                <a:solidFill>
                  <a:srgbClr val="6E6E73"/>
                </a:solidFill>
                <a:latin typeface="Microsoft YaHei"/>
                <a:ea typeface="Microsoft YaHei"/>
              </a:rPr>
              <a:t> Key </a:t>
            </a:r>
            <a:r>
              <a:rPr lang="zh-CN" sz="1200">
                <a:solidFill>
                  <a:srgbClr val="6E6E73"/>
                </a:solidFill>
                <a:latin typeface="Microsoft YaHei"/>
                <a:ea typeface="Microsoft YaHei"/>
              </a:rPr>
              <a:t>即获</a:t>
            </a:r>
            <a:r>
              <a:rPr lang="en-US" sz="1200">
                <a:solidFill>
                  <a:srgbClr val="6E6E73"/>
                </a:solidFill>
                <a:latin typeface="Microsoft YaHei"/>
                <a:ea typeface="Microsoft YaHei"/>
              </a:rPr>
              <a:t> 777 </a:t>
            </a:r>
            <a:r>
              <a:rPr lang="zh-CN" sz="1200">
                <a:solidFill>
                  <a:srgbClr val="6E6E73"/>
                </a:solidFill>
                <a:latin typeface="Microsoft YaHei"/>
                <a:ea typeface="Microsoft YaHei"/>
              </a:rPr>
              <a:t>首真实可听曲目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448425" y="5895975"/>
            <a:ext cx="419100" cy="47625"/>
          </a:xfrm>
          <a:prstGeom prst="roundRect">
            <a:avLst>
              <a:gd name="adj" fmla="val 60000"/>
            </a:avLst>
          </a:prstGeom>
          <a:solidFill>
            <a:srgbClr val="FF6B9D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9001125" y="1143000"/>
            <a:ext cx="2581275" cy="5048250"/>
          </a:xfrm>
          <a:prstGeom prst="roundRect">
            <a:avLst>
              <a:gd name="adj" fmla="val 7380"/>
            </a:avLst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9248775" y="1390650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0B981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pic>
        <p:nvPicPr>
          <p:cNvPr id="276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 rot="0" flipH="0" flipV="0">
            <a:off x="11010900" y="1438275"/>
            <a:ext cx="323850" cy="323850"/>
          </a:xfrm>
          <a:prstGeom prst="rect">
            <a:avLst/>
          </a:prstGeom>
          <a:ln/>
        </p:spPr>
      </p:pic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9248775" y="3057525"/>
            <a:ext cx="20859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D1D1F"/>
                </a:solidFill>
                <a:latin typeface="Microsoft YaHei"/>
                <a:ea typeface="Microsoft YaHei"/>
              </a:rPr>
              <a:t>歌单导入即画像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9248775" y="3400425"/>
            <a:ext cx="2085975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6E6E73"/>
                </a:solidFill>
                <a:latin typeface="Microsoft YaHei"/>
                <a:ea typeface="Microsoft YaHei"/>
              </a:rPr>
              <a:t>粘贴任意歌单文本</a:t>
            </a:r>
            <a:r>
              <a:rPr lang="en-US" sz="1200">
                <a:solidFill>
                  <a:srgbClr val="6E6E73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6E6E73"/>
                </a:solidFill>
                <a:latin typeface="Microsoft YaHei"/>
                <a:ea typeface="Microsoft YaHei"/>
              </a:rPr>
              <a:t>自动匹配、曲风画像、生成专辑级</a:t>
            </a:r>
            <a:r>
              <a:rPr lang="en-US" sz="1200">
                <a:solidFill>
                  <a:srgbClr val="6E6E73"/>
                </a:solidFill>
                <a:latin typeface="Microsoft YaHei"/>
                <a:ea typeface="Microsoft YaHei"/>
              </a:rPr>
              <a:t> SVG </a:t>
            </a:r>
            <a:r>
              <a:rPr lang="zh-CN" sz="1200">
                <a:solidFill>
                  <a:srgbClr val="6E6E73"/>
                </a:solidFill>
                <a:latin typeface="Microsoft YaHei"/>
                <a:ea typeface="Microsoft YaHei"/>
              </a:rPr>
              <a:t>创意封面，形成导入</a:t>
            </a:r>
            <a:r>
              <a:rPr lang="en-US" sz="1200">
                <a:solidFill>
                  <a:srgbClr val="6E6E73"/>
                </a:solidFill>
                <a:latin typeface="Microsoft YaHei"/>
                <a:ea typeface="Microsoft YaHei"/>
              </a:rPr>
              <a:t>-</a:t>
            </a:r>
            <a:r>
              <a:rPr lang="zh-CN" sz="1200">
                <a:solidFill>
                  <a:srgbClr val="6E6E73"/>
                </a:solidFill>
                <a:latin typeface="Microsoft YaHei"/>
                <a:ea typeface="Microsoft YaHei"/>
              </a:rPr>
              <a:t>分析</a:t>
            </a:r>
            <a:r>
              <a:rPr lang="en-US" sz="1200">
                <a:solidFill>
                  <a:srgbClr val="6E6E73"/>
                </a:solidFill>
                <a:latin typeface="Microsoft YaHei"/>
                <a:ea typeface="Microsoft YaHei"/>
              </a:rPr>
              <a:t>-</a:t>
            </a:r>
            <a:r>
              <a:rPr lang="zh-CN" sz="1200">
                <a:solidFill>
                  <a:srgbClr val="6E6E73"/>
                </a:solidFill>
                <a:latin typeface="Microsoft YaHei"/>
                <a:ea typeface="Microsoft YaHei"/>
              </a:rPr>
              <a:t>可视化闭环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9248775" y="5895975"/>
            <a:ext cx="419100" cy="47625"/>
          </a:xfrm>
          <a:prstGeom prst="roundRect">
            <a:avLst>
              <a:gd name="adj" fmla="val 6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81" name="" descr="&lt;Slide style={{ width: 1280, height: 720, background: '#F5F5F7', padding: '20px 64px' }}&gt;&#10;  {/* A 标题块 */}&#10;  &lt;Box style={{ height: 100, justifyContent: 'center' }}&gt;&#10;    &lt;Text style={{ fontSize: 36, fontWeight: 'bold', color: '#1D1D1F' }}&gt;测试与验证&lt;/Text&gt;&#10;  &lt;/Box&gt;&#10;  {/* B 内容区：表格 */}&#10;  &lt;Box style={{ flex: 1, justifyContent: 'center' }}&gt;&#10;    &lt;Table&#10;      style={{ width: '100%', height: 420 }}&#10;      defaultTextStyle={{ fontSize: 18, textAlign: 'center', color: '#1D1D1F' }}&#10;      defaultCellStyle={{ padding: '14px 18px', border: '1px solid #E3E3E6', backgroundColor: '#ffffff' }}&#10;      cells={[&#10;        [&#10;          { text: '验证项', cellStyle: { backgroundColor: '#0071E3', border: '1px solid #0071E3' }, textStyle: { color: '#ffffff', fontWeight: 'bold', fontSize: 19 } },&#10;          { text: '结果', cellStyle: { backgroundColor: '#0071E3', border: '1px solid #0071E3' }, textStyle: { color: '#ffffff', fontWeight: 'bold', fontSize: 19 } },&#10;          { text: '说明', cellStyle: { backgroundColor: '#0071E3', border: '1px solid #0071E3' }, textStyle: { color: '#ffffff', fontWeight: 'bold', fontSize: 19 } },&#10;        ],&#10;        ['后端自动化测试（pytest）', '45 / 45 通过 ✅', '健康检查 / 推荐 / 歌单 / 搜索 / 聊天 / 上传'],&#10;        ['前端自动化测试（Vitest）', '4 / 4 通过 ✅', 'Mock 数据层'],&#10;        ['前端生产构建', '零错误 ✅', 'vue-tsc 类型检查 + vite build'],&#10;        ['歌词拉取端到端', '1502 字 ✅', 'Coldplay《Viva La Vida》真实歌词'],&#10;        ['AI 对话端到端', '歌曲卡片 ✅', '输入&quot;浪漫的歌&quot;→ Levitating/喜欢你/Yellow'],&#10;        ['歌单导入端到端', '匹配 3/5 ✅', '生成 4243 字符创意视觉图'],&#10;        ['匹配度修复', '0 个 0% ✅', '列表接口匹配度 70-98 区间'],&#10;      ]}&#10;    /&gt;&#10;  &lt;/Box&gt;&#10;  {/* C 页脚 */}&#10;  &lt;Box style={{ height: 50, flexDirection: 'row', alignItems: 'center', justifyContent: 'flex-end' }}&gt;&#10;    &lt;Text style={{ fontSize: 14, color: '#86868B' }}&gt;09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D1D1F"/>
                </a:solidFill>
                <a:latin typeface="Microsoft YaHei"/>
                <a:ea typeface="Microsoft YaHei"/>
              </a:rPr>
              <a:t>测试与验证</a:t>
            </a:r>
            <a:endParaRPr/>
          </a:p>
        </p:txBody>
      </p:sp>
      <p:graphicFrame>
        <p:nvGraphicFramePr>
          <p:cNvPr id="284" name=""/>
          <p:cNvGraphicFramePr/>
          <p:nvPr/>
        </p:nvGraphicFramePr>
        <p:xfrm rot="0" flipH="0" flipV="0">
          <a:off x="609600" y="1666875"/>
          <a:ext cx="10972800" cy="4000500"/>
        </p:xfrm>
        <a:graphic>
          <a:graphicData uri="http://schemas.openxmlformats.org/drawingml/2006/table">
            <a:tbl>
              <a:tblGrid>
                <a:gridCol w="3367711">
                  <a:extLst>
                    <a:ext uri="{9D8B030D-6E8A-4147-A177-3AD203B41FA5}">
                      <a16:colId val="1"/>
                    </a:ext>
                  </a:extLst>
                </a:gridCol>
                <a:gridCol w="2123187">
                  <a:extLst>
                    <a:ext uri="{9D8B030D-6E8A-4147-A177-3AD203B41FA5}">
                      <a16:colId val="2"/>
                    </a:ext>
                  </a:extLst>
                </a:gridCol>
                <a:gridCol w="548190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2447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验证项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965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后端自动化测试（pytest）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45 / 45 通过 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健康检查 / 推荐 / 歌单 / 搜索 / 聊天 / 上传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965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前端自动化测试（Vitest）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4 / 4 通过 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Mock 数据层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965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前端生产构建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零错误 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vue-tsc 类型检查 + vite build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965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歌词拉取端到端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1502 字 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Coldplay《Viva La Vida》真实歌词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965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AI 对话端到端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歌曲卡片 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输入"浪漫的歌"→ Levitating/喜欢你/Yellow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965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歌单导入端到端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匹配 3/5 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生成 4243 字符创意视觉图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965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匹配度修复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0 个 0% 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列表接口匹配度 70-98 区间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</a:tbl>
          </a:graphicData>
        </a:graphic>
      </p:graphicFrame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5" name="" descr="&lt;Slide style={{ width: 1280, height: 720, background: '#ffffff', padding: '20px 64px' }}&gt;&#10;  {/* A 标题块 */}&#10;  &lt;Box style={{ height: 100, justifyContent: 'center' }}&gt;&#10;    &lt;Text style={{ fontSize: 36, fontWeight: 'bold', color: '#1D1D1F' }}&gt;运行指南&lt;/Text&gt;&#10;  &lt;/Box&gt;&#10;  {/* B 内容区：双代码块 */}&#10;  &lt;Box style={{ flex: 1, flexDirection: 'row', gap: 28, alignItems: 'stretch' }}&gt;&#10;    &lt;Box style={{ flex: 1, background: '#1E293B', borderRadius: 18, padding: 24, gap: 14 }}&gt;&#10;      &lt;Box style={{ flexDirection: 'row', alignItems: 'center', gap: 10 }}&gt;&#10;        &lt;FAIcon name='windows' style={{ fill: '#4DABF7', width: 24, height: 24 }} /&gt;&#10;        &lt;Text style={{ fontSize: 21, fontWeight: 'bold', color: '#ffffff' }}&gt;Windows 一键启动&lt;/Text&gt;&#10;      &lt;/Box&gt;&#10;      &lt;Box style={{ background: '#0F172A', borderRadius: 12, padding: 18, gap: 6 }}&gt;&#10;        &lt;Text style={{ fontSize: 16, color: '#A5F3FC', fontFamily: 'monospace' }}&gt;双击 start-tunematch.bat&lt;/Text&gt;&#10;        &lt;Text style={{ fontSize: 16, color: '#94A3B8', fontFamily: 'monospace' }}&gt;# 自动装依赖并启动前后端&lt;/Text&gt;&#10;        &lt;Text style={{ fontSize: 16, color: '#A5F3FC', fontFamily: 'monospace' }}&gt;前端  →  localhost:5173&lt;/Text&gt;&#10;        &lt;Text style={{ fontSize: 16, color: '#A5F3FC', fontFamily: 'monospace' }}&gt;后端  →  localhost:8000&lt;/Text&gt;&#10;      &lt;/Box&gt;&#10;      &lt;Text style={{ fontSize: 15, color: '#64748B' }}&gt;无任何 Key 配置即可完整演示（全链路降级）&lt;/Text&gt;&#10;    &lt;/Box&gt;&#10;    &lt;Box style={{ flex: 1, background: '#1E293B', borderRadius: 18, padding: 24, gap: 14 }}&gt;&#10;      &lt;Box style={{ flexDirection: 'row', alignItems: 'center', gap: 10 }}&gt;&#10;        &lt;FAIcon name='terminal' style={{ fill: '#A78BFA', width: 24, height: 24 }} /&gt;&#10;        &lt;Text style={{ fontSize: 21, fontWeight: 'bold', color: '#ffffff' }}&gt;手动启动&lt;/Text&gt;&#10;      &lt;/Box&gt;&#10;      &lt;Box style={{ background: '#0F172A', borderRadius: 12, padding: 18, gap: 6 }}&gt;&#10;        &lt;Text style={{ fontSize: 15, color: '#A5F3FC', fontFamily: 'monospace' }}&gt;# 后端&lt;/Text&gt;&#10;        &lt;Text style={{ fontSize: 15, color: '#E2E8F0', fontFamily: 'monospace' }}&gt;cd backend&lt;/Text&gt;&#10;        &lt;Text style={{ fontSize: 15, color: '#E2E8F0', fontFamily: 'monospace' }}&gt;uvicorn main:app --port 8000&lt;/Text&gt;&#10;        &lt;Text style={{ fontSize: 15, color: '#A5F3FC', fontFamily: 'monospace' }}&gt;# 前端&lt;/Text&gt;&#10;        &lt;Text style={{ fontSize: 15, color: '#E2E8F0', fontFamily: 'monospace' }}&gt;cd frontend &amp;&amp; npm run dev&lt;/Text&gt;&#10;      &lt;/Box&gt;&#10;      &lt;Text style={{ fontSize: 15, color: '#64748B' }}&gt;配置 LLM_API_KEY 可解锁真实 AI 自然语言对话&lt;/Text&gt;&#10;    &lt;/Box&gt;&#10;  &lt;/Box&gt;&#10;  {/* C 页脚 */}&#10;  &lt;Box style={{ height: 50, flexDirection: 'row', alignItems: 'center', justifyContent: 'flex-end' }}&gt;&#10;    &lt;Text style={{ fontSize: 14, color: '#86868B' }}&gt;10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D1D1F"/>
                </a:solidFill>
                <a:latin typeface="Microsoft YaHei"/>
                <a:ea typeface="Microsoft YaHei"/>
              </a:rPr>
              <a:t>运行指南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09600" y="1143000"/>
            <a:ext cx="5353050" cy="5048250"/>
          </a:xfrm>
          <a:prstGeom prst="roundRect">
            <a:avLst>
              <a:gd name="adj" fmla="val 3396"/>
            </a:avLst>
          </a:prstGeom>
          <a:solidFill>
            <a:srgbClr val="1E293B"/>
          </a:solidFill>
          <a:ln/>
        </p:spPr>
        <p:txBody>
          <a:bodyPr/>
          <a:p/>
        </p:txBody>
      </p:sp>
      <p:pic>
        <p:nvPicPr>
          <p:cNvPr id="19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 rot="0" flipH="0" flipV="0">
            <a:off x="838200" y="1381125"/>
            <a:ext cx="228600" cy="228600"/>
          </a:xfrm>
          <a:prstGeom prst="rect">
            <a:avLst/>
          </a:prstGeom>
          <a:ln/>
        </p:spPr>
      </p:pic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62050" y="1371600"/>
            <a:ext cx="1800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Windows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一键启动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838200" y="1752600"/>
            <a:ext cx="4895850" cy="1276350"/>
          </a:xfrm>
          <a:prstGeom prst="roundRect">
            <a:avLst>
              <a:gd name="adj" fmla="val 895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09650" y="1924050"/>
            <a:ext cx="455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5F3FC"/>
                </a:solidFill>
                <a:latin typeface="monospace"/>
                <a:ea typeface="monospace"/>
              </a:rPr>
              <a:t>双击</a:t>
            </a:r>
            <a:r>
              <a:rPr lang="en-US" sz="1200">
                <a:solidFill>
                  <a:srgbClr val="A5F3FC"/>
                </a:solidFill>
                <a:latin typeface="monospace"/>
                <a:ea typeface="monospace"/>
              </a:rPr>
              <a:t> start-tunematch.bat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09650" y="2171700"/>
            <a:ext cx="455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onospace"/>
                <a:ea typeface="monospace"/>
              </a:rPr>
              <a:t># </a:t>
            </a:r>
            <a:r>
              <a:rPr lang="zh-CN" sz="1200">
                <a:solidFill>
                  <a:srgbClr val="94A3B8"/>
                </a:solidFill>
                <a:latin typeface="monospace"/>
                <a:ea typeface="monospace"/>
              </a:rPr>
              <a:t>自动装依赖并启动前后端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009650" y="2419350"/>
            <a:ext cx="455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5F3FC"/>
                </a:solidFill>
                <a:latin typeface="monospace"/>
                <a:ea typeface="monospace"/>
              </a:rPr>
              <a:t>前端</a:t>
            </a:r>
            <a:r>
              <a:rPr lang="en-US" sz="1200">
                <a:solidFill>
                  <a:srgbClr val="A5F3FC"/>
                </a:solidFill>
                <a:latin typeface="monospace"/>
                <a:ea typeface="monospace"/>
              </a:rPr>
              <a:t>  →  localhost:5173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09650" y="2667000"/>
            <a:ext cx="455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5F3FC"/>
                </a:solidFill>
                <a:latin typeface="monospace"/>
                <a:ea typeface="monospace"/>
              </a:rPr>
              <a:t>后端</a:t>
            </a:r>
            <a:r>
              <a:rPr lang="en-US" sz="1200">
                <a:solidFill>
                  <a:srgbClr val="A5F3FC"/>
                </a:solidFill>
                <a:latin typeface="monospace"/>
                <a:ea typeface="monospace"/>
              </a:rPr>
              <a:t>  →  localhost:8000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38200" y="3162300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无任何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Key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配置即可完整演示（全链路降级）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229350" y="1143000"/>
            <a:ext cx="5353050" cy="5048250"/>
          </a:xfrm>
          <a:prstGeom prst="roundRect">
            <a:avLst>
              <a:gd name="adj" fmla="val 3396"/>
            </a:avLst>
          </a:prstGeom>
          <a:solidFill>
            <a:srgbClr val="1E293B"/>
          </a:solidFill>
          <a:ln/>
        </p:spPr>
        <p:txBody>
          <a:bodyPr/>
          <a:p/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 rot="0" flipH="0" flipV="0">
            <a:off x="6457950" y="1381125"/>
            <a:ext cx="228600" cy="228600"/>
          </a:xfrm>
          <a:prstGeom prst="rect">
            <a:avLst/>
          </a:prstGeom>
          <a:ln/>
        </p:spPr>
      </p:pic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781800" y="1371600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手动启动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457950" y="1752600"/>
            <a:ext cx="4895850" cy="142875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629400" y="1924050"/>
            <a:ext cx="455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A5F3FC"/>
                </a:solidFill>
                <a:latin typeface="monospace"/>
                <a:ea typeface="monospace"/>
              </a:rPr>
              <a:t># </a:t>
            </a:r>
            <a:r>
              <a:rPr lang="zh-CN" sz="1125">
                <a:solidFill>
                  <a:srgbClr val="A5F3FC"/>
                </a:solidFill>
                <a:latin typeface="monospace"/>
                <a:ea typeface="monospace"/>
              </a:rPr>
              <a:t>后端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629400" y="2152650"/>
            <a:ext cx="455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2E8F0"/>
                </a:solidFill>
                <a:latin typeface="monospace"/>
                <a:ea typeface="monospace"/>
              </a:rPr>
              <a:t>cd backend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629400" y="2381250"/>
            <a:ext cx="455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2E8F0"/>
                </a:solidFill>
                <a:latin typeface="monospace"/>
                <a:ea typeface="monospace"/>
              </a:rPr>
              <a:t>uvicorn main:app --port 8000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629400" y="2609850"/>
            <a:ext cx="455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A5F3FC"/>
                </a:solidFill>
                <a:latin typeface="monospace"/>
                <a:ea typeface="monospace"/>
              </a:rPr>
              <a:t># </a:t>
            </a:r>
            <a:r>
              <a:rPr lang="zh-CN" sz="1125">
                <a:solidFill>
                  <a:srgbClr val="A5F3FC"/>
                </a:solidFill>
                <a:latin typeface="monospace"/>
                <a:ea typeface="monospace"/>
              </a:rPr>
              <a:t>前端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629400" y="2838450"/>
            <a:ext cx="455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2E8F0"/>
                </a:solidFill>
                <a:latin typeface="monospace"/>
                <a:ea typeface="monospace"/>
              </a:rPr>
              <a:t>cd frontend &amp;&amp; npm run dev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457950" y="3314700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配置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LLM_API_KEY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可解锁真实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自然语言对话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8" name="" descr="&lt;Slide style={{ width: 1280, height: 720, background: 'linear-gradient(135deg, #0F172A, #1E1B4B)', padding: '20px 64px' }}&gt;&#10;  {/* A 标题块 */}&#10;  &lt;Box style={{ height: 90, justifyContent: 'center' }}&gt;&#10;    &lt;Text style={{ fontSize: 36, fontWeight: 'bold', color: '#ffffff' }}&gt;总结与展望&lt;/Text&gt;&#10;  &lt;/Box&gt;&#10;  {/* B 内容区：大字 + 三点 */}&#10;  &lt;Box style={{ flex: 1, gap: 28, justifyContent: 'center' }}&gt;&#10;    &lt;Text style={{ fontSize: 46, fontWeight: 'bold', color: '#ffffff', lineHeight: 1.4 }}&gt;&#10;      从「理解用户」出发，&lt;span style={{ color: '#4DABF7' }}&gt;完成音乐产品的完整闭环&lt;/span&gt;&#10;    &lt;/Text&gt;&#10;    &lt;Box style={{ flexDirection: 'row', gap: 24 }}&gt;&#10;      {[&#10;        { t: '真实曲库', d: '777 首可听曲目\n多源接入零成本', c: '#4DABF7', i: 'music' },&#10;        { t: '可解释推荐', d: '透明匹配度 + 特征解释\n拒绝黑盒', c: '#FF6B9D', i: 'chart-line' },&#10;        { t: '社交预演', d: '歌单画像数据管道\n未来「灵魂匹配」', c: '#A78BFA', i: 'heart-pulse' },&#10;      ].map((f) =&gt; (&#10;        &lt;Box key={f.t} style={{ flex: 1, background: 'rgba(255,255,255,0.06)', border: '1px solid rgba(255,255,255,0.14)', borderRadius: 18, padding: 24, gap: 10 }}&gt;&#10;          &lt;FAIcon name={f.i} style={{ fill: f.c, width: 30, height: 30 }} /&gt;&#10;          &lt;Text style={{ fontSize: 22, fontWeight: 'bold', color: '#ffffff' }}&gt;{f.t}&lt;/Text&gt;&#10;          &lt;Text style={{ fontSize: 16, color: '#94A3B8', lineHeight: 1.7 }}&gt;{f.d}&lt;/Text&gt;&#10;        &lt;/Box&gt;&#10;      ))}&#10;    &lt;/Box&gt;&#10;    &lt;Box style={{ background: 'rgba(77,171,247,0.12)', border: '1px solid rgba(77,171,247,0.3)', borderRadius: 14, padding: '16px 22px' }}&gt;&#10;      &lt;Text style={{ fontSize: 17, color: '#93C5FD', lineHeight: 1.7 }}&gt;&#10;        展望：接入 Spotify 全量曲库 · 上线「音乐灵魂匹配」社交 · 用户反馈回路动态修正偏好向量&#10;      &lt;/Text&gt;&#10;    &lt;/Box&gt;&#10;  &lt;/Box&gt;&#10;  {/* C 页脚 */}&#10;  &lt;Box style={{ height: 50, flexDirection: 'row', alignItems: 'center', justifyContent: 'flex-end' }}&gt;&#10;    &lt;Text style={{ fontSize: 14, color: '#475569' }}&gt;11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1B4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9600" y="4095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总结与展望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9600" y="17526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从「理解用户」出发，</a:t>
            </a:r>
            <a:r>
              <a:rPr lang="zh-CN" sz="3450" b="1">
                <a:solidFill>
                  <a:srgbClr val="4DABF7"/>
                </a:solidFill>
                <a:latin typeface="Microsoft YaHei"/>
                <a:ea typeface="Microsoft YaHei"/>
              </a:rPr>
              <a:t>完成音乐产品的完整闭环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2762250"/>
            <a:ext cx="3505200" cy="1819275"/>
          </a:xfrm>
          <a:prstGeom prst="roundRect">
            <a:avLst>
              <a:gd name="adj" fmla="val 942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3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 rot="0" flipH="0" flipV="0">
            <a:off x="838200" y="2990850"/>
            <a:ext cx="285750" cy="285750"/>
          </a:xfrm>
          <a:prstGeom prst="rect">
            <a:avLst/>
          </a:prstGeom>
          <a:ln/>
        </p:spPr>
      </p:pic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8200" y="3371850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真实曲库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38200" y="3724275"/>
            <a:ext cx="30480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777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首可听曲目
多源接入零成本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4343400" y="2762250"/>
            <a:ext cx="3505200" cy="1819275"/>
          </a:xfrm>
          <a:prstGeom prst="roundRect">
            <a:avLst>
              <a:gd name="adj" fmla="val 942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72000" y="2990850"/>
            <a:ext cx="285750" cy="285750"/>
          </a:xfrm>
          <a:prstGeom prst="rect">
            <a:avLst/>
          </a:prstGeom>
          <a:ln/>
        </p:spPr>
      </p:pic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572000" y="3371850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可解释推荐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572000" y="3724275"/>
            <a:ext cx="30480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透明匹配度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特征解释
拒绝黑盒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8077200" y="2762250"/>
            <a:ext cx="3505200" cy="1819275"/>
          </a:xfrm>
          <a:prstGeom prst="roundRect">
            <a:avLst>
              <a:gd name="adj" fmla="val 942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1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 rot="0" flipH="0" flipV="0">
            <a:off x="8305800" y="2990850"/>
            <a:ext cx="285750" cy="285750"/>
          </a:xfrm>
          <a:prstGeom prst="rect">
            <a:avLst/>
          </a:prstGeom>
          <a:ln/>
        </p:spPr>
      </p:pic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305800" y="3371850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社交预演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305800" y="3724275"/>
            <a:ext cx="30480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歌单画像数据管道
未来「灵魂匹配」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09600" y="4848225"/>
            <a:ext cx="10972800" cy="638175"/>
          </a:xfrm>
          <a:prstGeom prst="roundRect">
            <a:avLst>
              <a:gd name="adj" fmla="val 20896"/>
            </a:avLst>
          </a:prstGeom>
          <a:solidFill>
            <a:srgbClr val="4DABF7">
              <a:alpha val="12000"/>
            </a:srgbClr>
          </a:solidFill>
          <a:ln w="12700">
            <a:solidFill>
              <a:srgbClr val="4DABF7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19150" y="500062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93C5FD"/>
                </a:solidFill>
                <a:latin typeface="Microsoft YaHei"/>
                <a:ea typeface="Microsoft YaHei"/>
              </a:rPr>
              <a:t>展望：接入</a:t>
            </a:r>
            <a:r>
              <a:rPr lang="en-US" sz="1275">
                <a:solidFill>
                  <a:srgbClr val="93C5FD"/>
                </a:solidFill>
                <a:latin typeface="Microsoft YaHei"/>
                <a:ea typeface="Microsoft YaHei"/>
              </a:rPr>
              <a:t> Spotify </a:t>
            </a:r>
            <a:r>
              <a:rPr lang="zh-CN" sz="1275">
                <a:solidFill>
                  <a:srgbClr val="93C5FD"/>
                </a:solidFill>
                <a:latin typeface="Microsoft YaHei"/>
                <a:ea typeface="Microsoft YaHei"/>
              </a:rPr>
              <a:t>全量曲库</a:t>
            </a:r>
            <a:r>
              <a:rPr lang="en-US" sz="1275">
                <a:solidFill>
                  <a:srgbClr val="93C5FD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93C5FD"/>
                </a:solidFill>
                <a:latin typeface="Microsoft YaHei"/>
                <a:ea typeface="Microsoft YaHei"/>
              </a:rPr>
              <a:t>上线「音乐灵魂匹配」社交</a:t>
            </a:r>
            <a:r>
              <a:rPr lang="en-US" sz="1275">
                <a:solidFill>
                  <a:srgbClr val="93C5FD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93C5FD"/>
                </a:solidFill>
                <a:latin typeface="Microsoft YaHei"/>
                <a:ea typeface="Microsoft YaHei"/>
              </a:rPr>
              <a:t>用户反馈回路动态修正偏好向量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57" name="" descr="&lt;Slide style={{ width: 1280, height: 720, background: 'linear-gradient(135deg, #0071E3 0%, #7C3AED 100%)', padding: 0, alignItems: 'center', justifyContent: 'center' }}&gt;&#10;  &lt;Box style={{ alignItems: 'center', gap: 18 }}&gt;&#10;    &lt;Text style={{ fontSize: 150, color: '#ffffff', opacity: 0.95 }}&gt;♪&lt;/Text&gt;&#10;    &lt;Text style={{ fontSize: 72, fontWeight: 'bold', color: '#ffffff', letterSpacing: 2 }}&gt;谢谢聆听&lt;/Text&gt;&#10;    &lt;Text style={{ fontSize: 24, color: 'rgba(255,255,255,0.9)', marginTop: 8 }}&gt;THANKS FOR LISTENING&lt;/Text&gt;&#10;    &lt;Box style={{ flexDirection: 'row', gap: 12, marginTop: 36 }}&gt;&#10;      &lt;Box style={{ background: 'rgba(255,255,255,0.18)', border: '1px solid rgba(255,255,255,0.35)', borderRadius: 40, padding: '10px 26px' }}&gt;&#10;        &lt;Text style={{ fontSize: 17, color: '#ffffff' }}&gt;TuneMatch · AI 智能音乐推荐平台&lt;/Text&gt;&#10;      &lt;/Box&gt;&#10;    &lt;/Box&gt;&#10;    &lt;Text style={{ fontSize: 15, color: 'rgba(255,255,255,0.65)', marginTop: 24 }}&gt;欢迎提问与交流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71E3"/>
              </a:gs>
              <a:gs pos="100000">
                <a:srgbClr val="7C3AED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686300" y="2962275"/>
            <a:ext cx="28194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 spc="150">
                <a:solidFill>
                  <a:srgbClr val="FFFFFF"/>
                </a:solidFill>
                <a:latin typeface="Microsoft YaHei"/>
                <a:ea typeface="Microsoft YaHei"/>
              </a:rPr>
              <a:t>谢谢聆听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743450" y="4038600"/>
            <a:ext cx="2714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THANKS FOR LISTENING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600575" y="4829175"/>
            <a:ext cx="2990850" cy="390525"/>
          </a:xfrm>
          <a:prstGeom prst="roundRect">
            <a:avLst>
              <a:gd name="adj" fmla="val 97561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848225" y="4924425"/>
            <a:ext cx="2495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TuneMatch · AI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智能音乐推荐平台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600700" y="56197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欢迎提问与交流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600700" y="1076325"/>
            <a:ext cx="9906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♪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2026-08-14T17:32:02Z</dcterms:created>
  <dcterms:modified xsi:type="dcterms:W3CDTF">2026-08-14T17:32:02Z</dcterms:modified>
</cp:coreProperties>
</file>